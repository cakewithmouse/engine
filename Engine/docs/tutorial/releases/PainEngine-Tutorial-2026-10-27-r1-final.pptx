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038e66ecf084042" /><Relationship Type="http://schemas.openxmlformats.org/officeDocument/2006/relationships/extended-properties" Target="/docProps/app.xml" Id="R9201adac48ba44d0" /><Relationship Type="http://schemas.openxmlformats.org/officeDocument/2006/relationships/officeDocument" Target="/ppt/presentation.xml" Id="R45d985f6c69149ca" /></Relationships>
</file>

<file path=ppt/presentation.xml><?xml version="1.0" encoding="utf-8"?>
<p:presentation xmlns:p="http://schemas.openxmlformats.org/presentationml/2006/main">
  <p:sldMasterIdLst>
    <p:sldMasterId xmlns:r="http://schemas.openxmlformats.org/officeDocument/2006/relationships" id="2147483648" r:id="R31eed072e4e44a7d"/>
  </p:sldMasterIdLst>
  <p:notesMasterIdLst>
    <p:notesMasterId xmlns:r="http://schemas.openxmlformats.org/officeDocument/2006/relationships" r:id="R59d82e941ef94a39"/>
  </p:notesMasterIdLst>
  <p:sldIdLst>
    <p:sldId xmlns:r="http://schemas.openxmlformats.org/officeDocument/2006/relationships" id="256" r:id="R2dd48e8601ff43b1"/>
    <p:sldId xmlns:r="http://schemas.openxmlformats.org/officeDocument/2006/relationships" id="257" r:id="R6dd39c4158ba4722"/>
    <p:sldId xmlns:r="http://schemas.openxmlformats.org/officeDocument/2006/relationships" id="258" r:id="R337da9d7d8714532"/>
    <p:sldId xmlns:r="http://schemas.openxmlformats.org/officeDocument/2006/relationships" id="259" r:id="Rdcc25f626532480f"/>
    <p:sldId xmlns:r="http://schemas.openxmlformats.org/officeDocument/2006/relationships" id="260" r:id="R168f2f1be0cc4b2f"/>
    <p:sldId xmlns:r="http://schemas.openxmlformats.org/officeDocument/2006/relationships" id="261" r:id="R34e14482340241d5"/>
    <p:sldId xmlns:r="http://schemas.openxmlformats.org/officeDocument/2006/relationships" id="262" r:id="Raa8f827026034e75"/>
    <p:sldId xmlns:r="http://schemas.openxmlformats.org/officeDocument/2006/relationships" id="263" r:id="R475ea8c5f405464f"/>
    <p:sldId xmlns:r="http://schemas.openxmlformats.org/officeDocument/2006/relationships" id="264" r:id="R0440ca4684484e8e"/>
    <p:sldId xmlns:r="http://schemas.openxmlformats.org/officeDocument/2006/relationships" id="265" r:id="Rcd86054880994e61"/>
    <p:sldId xmlns:r="http://schemas.openxmlformats.org/officeDocument/2006/relationships" id="266" r:id="R0488785598fa42c6"/>
    <p:sldId xmlns:r="http://schemas.openxmlformats.org/officeDocument/2006/relationships" id="267" r:id="R09e152ee719a4847"/>
    <p:sldId xmlns:r="http://schemas.openxmlformats.org/officeDocument/2006/relationships" id="268" r:id="Rc4d3866226d844f0"/>
    <p:sldId xmlns:r="http://schemas.openxmlformats.org/officeDocument/2006/relationships" id="269" r:id="R43da537beb424657"/>
    <p:sldId xmlns:r="http://schemas.openxmlformats.org/officeDocument/2006/relationships" id="270" r:id="Ra7908f3b78e14b02"/>
    <p:sldId xmlns:r="http://schemas.openxmlformats.org/officeDocument/2006/relationships" id="271" r:id="R89383dec5c6a40eb"/>
    <p:sldId xmlns:r="http://schemas.openxmlformats.org/officeDocument/2006/relationships" id="272" r:id="R3a6260d5ac49474c"/>
    <p:sldId xmlns:r="http://schemas.openxmlformats.org/officeDocument/2006/relationships" id="273" r:id="Rf736b1a1ce8e4249"/>
    <p:sldId xmlns:r="http://schemas.openxmlformats.org/officeDocument/2006/relationships" id="274" r:id="R94f18452312e45b3"/>
    <p:sldId xmlns:r="http://schemas.openxmlformats.org/officeDocument/2006/relationships" id="275" r:id="R7a261b3afcbc4803"/>
    <p:sldId xmlns:r="http://schemas.openxmlformats.org/officeDocument/2006/relationships" id="276" r:id="R6682cd85a5ae4d90"/>
    <p:sldId xmlns:r="http://schemas.openxmlformats.org/officeDocument/2006/relationships" id="277" r:id="R6edce881db1f4741"/>
    <p:sldId xmlns:r="http://schemas.openxmlformats.org/officeDocument/2006/relationships" id="278" r:id="R6045cee870e444c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724e8881634533" /><Relationship Type="http://schemas.openxmlformats.org/officeDocument/2006/relationships/slideMaster" Target="/ppt/slideMasters/slideMaster1.xml" Id="R31eed072e4e44a7d" /><Relationship Type="http://schemas.openxmlformats.org/officeDocument/2006/relationships/notesMaster" Target="/ppt/notesMasters/notesMaster1.xml" Id="R59d82e941ef94a39" /><Relationship Type="http://schemas.openxmlformats.org/officeDocument/2006/relationships/presProps" Target="/ppt/presProps.xml" Id="R8d2d458ef3804f8c" /><Relationship Type="http://schemas.openxmlformats.org/officeDocument/2006/relationships/tableStyles" Target="/ppt/tableStyles.xml" Id="Rb7e59919eca04237" /><Relationship Type="http://schemas.openxmlformats.org/officeDocument/2006/relationships/slide" Target="/ppt/slides/slide1.xml" Id="R2dd48e8601ff43b1" /><Relationship Type="http://schemas.openxmlformats.org/officeDocument/2006/relationships/slide" Target="/ppt/slides/slide2.xml" Id="R6dd39c4158ba4722" /><Relationship Type="http://schemas.openxmlformats.org/officeDocument/2006/relationships/slide" Target="/ppt/slides/slide3.xml" Id="R337da9d7d8714532" /><Relationship Type="http://schemas.openxmlformats.org/officeDocument/2006/relationships/slide" Target="/ppt/slides/slide4.xml" Id="Rdcc25f626532480f" /><Relationship Type="http://schemas.openxmlformats.org/officeDocument/2006/relationships/slide" Target="/ppt/slides/slide5.xml" Id="R168f2f1be0cc4b2f" /><Relationship Type="http://schemas.openxmlformats.org/officeDocument/2006/relationships/slide" Target="/ppt/slides/slide6.xml" Id="R34e14482340241d5" /><Relationship Type="http://schemas.openxmlformats.org/officeDocument/2006/relationships/slide" Target="/ppt/slides/slide7.xml" Id="Raa8f827026034e75" /><Relationship Type="http://schemas.openxmlformats.org/officeDocument/2006/relationships/slide" Target="/ppt/slides/slide8.xml" Id="R475ea8c5f405464f" /><Relationship Type="http://schemas.openxmlformats.org/officeDocument/2006/relationships/slide" Target="/ppt/slides/slide9.xml" Id="R0440ca4684484e8e" /><Relationship Type="http://schemas.openxmlformats.org/officeDocument/2006/relationships/slide" Target="/ppt/slides/slide10.xml" Id="Rcd86054880994e61" /><Relationship Type="http://schemas.openxmlformats.org/officeDocument/2006/relationships/slide" Target="/ppt/slides/slide11.xml" Id="R0488785598fa42c6" /><Relationship Type="http://schemas.openxmlformats.org/officeDocument/2006/relationships/slide" Target="/ppt/slides/slide12.xml" Id="R09e152ee719a4847" /><Relationship Type="http://schemas.openxmlformats.org/officeDocument/2006/relationships/slide" Target="/ppt/slides/slide13.xml" Id="Rc4d3866226d844f0" /><Relationship Type="http://schemas.openxmlformats.org/officeDocument/2006/relationships/slide" Target="/ppt/slides/slide14.xml" Id="R43da537beb424657" /><Relationship Type="http://schemas.openxmlformats.org/officeDocument/2006/relationships/slide" Target="/ppt/slides/slide15.xml" Id="Ra7908f3b78e14b02" /><Relationship Type="http://schemas.openxmlformats.org/officeDocument/2006/relationships/slide" Target="/ppt/slides/slide16.xml" Id="R89383dec5c6a40eb" /><Relationship Type="http://schemas.openxmlformats.org/officeDocument/2006/relationships/slide" Target="/ppt/slides/slide17.xml" Id="R3a6260d5ac49474c" /><Relationship Type="http://schemas.openxmlformats.org/officeDocument/2006/relationships/slide" Target="/ppt/slides/slide18.xml" Id="Rf736b1a1ce8e4249" /><Relationship Type="http://schemas.openxmlformats.org/officeDocument/2006/relationships/slide" Target="/ppt/slides/slide19.xml" Id="R94f18452312e45b3" /><Relationship Type="http://schemas.openxmlformats.org/officeDocument/2006/relationships/slide" Target="/ppt/slides/slide20.xml" Id="R7a261b3afcbc4803" /><Relationship Type="http://schemas.openxmlformats.org/officeDocument/2006/relationships/slide" Target="/ppt/slides/slide21.xml" Id="R6682cd85a5ae4d90" /><Relationship Type="http://schemas.openxmlformats.org/officeDocument/2006/relationships/slide" Target="/ppt/slides/slide22.xml" Id="R6edce881db1f4741" /><Relationship Type="http://schemas.openxmlformats.org/officeDocument/2006/relationships/slide" Target="/ppt/slides/slide23.xml" Id="R6045cee870e444c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9ff0a27c3f4b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9848b003e6e4018" /><Relationship Type="http://schemas.openxmlformats.org/officeDocument/2006/relationships/notesMaster" Target="/ppt/notesMasters/notesMaster1.xml" Id="R2890320cbaec4fbd" /></Relationships>
</file>

<file path=ppt/notesSlides/_rels/notesSlide2.xml.rels>&#65279;<?xml version="1.0" encoding="utf-8"?><Relationships xmlns="http://schemas.openxmlformats.org/package/2006/relationships"><Relationship Type="http://schemas.openxmlformats.org/officeDocument/2006/relationships/slide" Target="/ppt/slides/slide2.xml" Id="R13826161b08048c3" /><Relationship Type="http://schemas.openxmlformats.org/officeDocument/2006/relationships/notesMaster" Target="/ppt/notesMasters/notesMaster1.xml" Id="R30ab6e356b0043dc" /></Relationships>
</file>

<file path=ppt/notesSlides/_rels/notesSlide3.xml.rels>&#65279;<?xml version="1.0" encoding="utf-8"?><Relationships xmlns="http://schemas.openxmlformats.org/package/2006/relationships"><Relationship Type="http://schemas.openxmlformats.org/officeDocument/2006/relationships/slide" Target="/ppt/slides/slide3.xml" Id="Rbd49cd16e1654a07" /><Relationship Type="http://schemas.openxmlformats.org/officeDocument/2006/relationships/notesMaster" Target="/ppt/notesMasters/notesMaster1.xml" Id="Rc172108315e44a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6ebb33c40e4f2b" /><Relationship Type="http://schemas.openxmlformats.org/officeDocument/2006/relationships/notesMaster" Target="/ppt/notesMasters/notesMaster1.xml" Id="Rf144d7a3225e4b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094d90d7cc14597" /><Relationship Type="http://schemas.openxmlformats.org/officeDocument/2006/relationships/notesMaster" Target="/ppt/notesMasters/notesMaster1.xml" Id="Rcd7a2bb0defb49ad" /></Relationships>
</file>

<file path=ppt/notesSlides/_rels/notesSlide6.xml.rels>&#65279;<?xml version="1.0" encoding="utf-8"?><Relationships xmlns="http://schemas.openxmlformats.org/package/2006/relationships"><Relationship Type="http://schemas.openxmlformats.org/officeDocument/2006/relationships/slide" Target="/ppt/slides/slide6.xml" Id="Rb8d28addd3f64560" /><Relationship Type="http://schemas.openxmlformats.org/officeDocument/2006/relationships/notesMaster" Target="/ppt/notesMasters/notesMaster1.xml" Id="Rb7f4df30fb2a4a9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d436c70517410d" /><Relationship Type="http://schemas.openxmlformats.org/officeDocument/2006/relationships/notesMaster" Target="/ppt/notesMasters/notesMaster1.xml" Id="R2a20e5791d854cac" /></Relationships>
</file>

<file path=ppt/notesSlides/_rels/notesSlide8.xml.rels>&#65279;<?xml version="1.0" encoding="utf-8"?><Relationships xmlns="http://schemas.openxmlformats.org/package/2006/relationships"><Relationship Type="http://schemas.openxmlformats.org/officeDocument/2006/relationships/slide" Target="/ppt/slides/slide8.xml" Id="R58bb12aacfbf43a3" /><Relationship Type="http://schemas.openxmlformats.org/officeDocument/2006/relationships/notesMaster" Target="/ppt/notesMasters/notesMaster1.xml" Id="Rde324b3080c944d7" /></Relationships>
</file>

<file path=ppt/notesSlides/_rels/notesSlide9.xml.rels>&#65279;<?xml version="1.0" encoding="utf-8"?><Relationships xmlns="http://schemas.openxmlformats.org/package/2006/relationships"><Relationship Type="http://schemas.openxmlformats.org/officeDocument/2006/relationships/slide" Target="/ppt/slides/slide9.xml" Id="R843259807a4041ee" /><Relationship Type="http://schemas.openxmlformats.org/officeDocument/2006/relationships/notesMaster" Target="/ppt/notesMasters/notesMaster1.xml" Id="Rbf21e49d97db401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37048d5f2704b73" /><Relationship Type="http://schemas.openxmlformats.org/officeDocument/2006/relationships/notesMaster" Target="/ppt/notesMasters/notesMaster1.xml" Id="R4668dc14a7504b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931812003eb4fd9" /><Relationship Type="http://schemas.openxmlformats.org/officeDocument/2006/relationships/notesMaster" Target="/ppt/notesMasters/notesMaster1.xml" Id="R9a0a8006426b437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275b8fdb8a04921" /><Relationship Type="http://schemas.openxmlformats.org/officeDocument/2006/relationships/notesMaster" Target="/ppt/notesMasters/notesMaster1.xml" Id="R83a08b92dd344bd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a1747972f2142c4" /><Relationship Type="http://schemas.openxmlformats.org/officeDocument/2006/relationships/notesMaster" Target="/ppt/notesMasters/notesMaster1.xml" Id="R32b401832b2c404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91df03554c48ae" /><Relationship Type="http://schemas.openxmlformats.org/officeDocument/2006/relationships/notesMaster" Target="/ppt/notesMasters/notesMaster1.xml" Id="R86456d862ff2424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63c3acc357f4266" /><Relationship Type="http://schemas.openxmlformats.org/officeDocument/2006/relationships/notesMaster" Target="/ppt/notesMasters/notesMaster1.xml" Id="R4dd4b58888614dc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a8bd0687e54455b" /><Relationship Type="http://schemas.openxmlformats.org/officeDocument/2006/relationships/notesMaster" Target="/ppt/notesMasters/notesMaster1.xml" Id="R0292bbcfe573482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ea9d1975e9340d6" /><Relationship Type="http://schemas.openxmlformats.org/officeDocument/2006/relationships/notesMaster" Target="/ppt/notesMasters/notesMaster1.xml" Id="Rd3f46e4e719b47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942d390b4af46d7" /><Relationship Type="http://schemas.openxmlformats.org/officeDocument/2006/relationships/notesMaster" Target="/ppt/notesMasters/notesMaster1.xml" Id="Rfa8743644113479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3b8874627984987" /><Relationship Type="http://schemas.openxmlformats.org/officeDocument/2006/relationships/notesMaster" Target="/ppt/notesMasters/notesMaster1.xml" Id="R100c045c92a84a9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75154c43e494f5a" /><Relationship Type="http://schemas.openxmlformats.org/officeDocument/2006/relationships/notesMaster" Target="/ppt/notesMasters/notesMaster1.xml" Id="Rca15fbcd65ed47d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c208fb80c4a4297" /><Relationship Type="http://schemas.openxmlformats.org/officeDocument/2006/relationships/notesMaster" Target="/ppt/notesMasters/notesMaster1.xml" Id="Rc1ee57ff50414cd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d61402322244c7e" /><Relationship Type="http://schemas.openxmlformats.org/officeDocument/2006/relationships/notesMaster" Target="/ppt/notesMasters/notesMaster1.xml" Id="Rd3f20670ab314ae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507df2014354f00" /><Relationship Type="http://schemas.openxmlformats.org/officeDocument/2006/relationships/notesMaster" Target="/ppt/notesMasters/notesMaster1.xml" Id="R2fad3e3292d64ea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Материал относится к текущей локальной сборке 2026.10.27.0 на 27 октября 2026 года. В ней стандартный Character уже имеет форму цилиндра. Иллюстрация на обложке создана для оформления и не является снимком движка. Основной маршрут подходит пользователю без C++. В конце приведены примеры расширения через SDK.</a:t>
            </a:r>
          </a:p>
          <a:p xmlns:a="http://schemas.openxmlformats.org/drawingml/2006/main">
            <a:r>
              <a:t/>
            </a:r>
          </a:p>
          <a:p xmlns:a="http://schemas.openxmlformats.org/drawingml/2006/main">
            <a:r>
              <a:t>Источники в репозитории O:/Engine/Engine:</a:t>
            </a:r>
          </a:p>
          <a:p xmlns:a="http://schemas.openxmlformats.org/drawingml/2006/main">
            <a:r>
              <a:t>Engine/Version.json</a:t>
            </a:r>
          </a:p>
          <a:p xmlns:a="http://schemas.openxmlformats.org/drawingml/2006/main">
            <a:r>
              <a:t>Engine/Source/Components/Character.cpp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Сначала пройдите маршрут без кода, затем при необходимости переходите к разделу C++. Пол в этом упражнении служит видимой поверхностью, а не коллайдером. Персонаж не падает под действием гравитации и не останавливается у стены. Это ограничение базового Character, а не описание всех возможностей всех примеров движка.</a:t>
            </a:r>
          </a:p>
          <a:p xmlns:a="http://schemas.openxmlformats.org/drawingml/2006/main">
            <a:r>
              <a:t/>
            </a:r>
          </a:p>
          <a:p xmlns:a="http://schemas.openxmlformats.org/drawingml/2006/main">
            <a:r>
              <a:t>Источники в репозитории O:/Engine/Engine:</a:t>
            </a:r>
          </a:p>
          <a:p xmlns:a="http://schemas.openxmlformats.org/drawingml/2006/main">
            <a:r>
              <a:t>Engine/docs/INPUT-CHARACTER.md</a:t>
            </a:r>
          </a:p>
          <a:p xmlns:a="http://schemas.openxmlformats.org/drawingml/2006/main">
            <a:r>
              <a:t>Engine/Source/Components/Character.cpp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Лаунчер находится в O:/Engine/Engine/Game/build/x64/Release/EngineLauncher.exe. Путь относится к этому рабочему месту. Пользовательский проект хранится отдельно от исходников движка. Примеры в лаунчере удобны для знакомства, но редактировать собственную сцену следует в созданном проекте. Для режима без кода компилятор не нужен. C++ проект требует Visual Studio с инструментами C++ и Windows SDK.</a:t>
            </a:r>
          </a:p>
          <a:p xmlns:a="http://schemas.openxmlformats.org/drawingml/2006/main">
            <a:r>
              <a:t/>
            </a:r>
          </a:p>
          <a:p xmlns:a="http://schemas.openxmlformats.org/drawingml/2006/main">
            <a:r>
              <a:t>Источники в репозитории O:/Engine/Engine:</a:t>
            </a:r>
          </a:p>
          <a:p xmlns:a="http://schemas.openxmlformats.org/drawingml/2006/main">
            <a:r>
              <a:t>Game/Launcher/Source/Main.cpp</a:t>
            </a:r>
          </a:p>
          <a:p xmlns:a="http://schemas.openxmlformats.org/drawingml/2006/main">
            <a:r>
              <a:t>Engine/docs/CODE-PROJECTS.md</a:t>
            </a:r>
          </a:p>
          <a:p xmlns:a="http://schemas.openxmlformats.org/drawingml/2006/main">
            <a:r>
              <a:t>Engine/docs/USER-PROJECTS.md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Viewport занимает центр окна и показывает сцену. На этом реальном снимке Qt-панелей встроенная D3D-поверхность чёрная из-за способа захвата, а не из-за состояния сцены. Меню View позволяет вернуть скрытые панели. Files показывает ресурсы проекта. Console содержит ошибки и результаты операций. Не используйте иллюстрацию как доказательство внешнего вида рендера.</a:t>
            </a:r>
          </a:p>
          <a:p xmlns:a="http://schemas.openxmlformats.org/drawingml/2006/main">
            <a:r>
              <a:t/>
            </a:r>
          </a:p>
          <a:p xmlns:a="http://schemas.openxmlformats.org/drawingml/2006/main">
            <a:r>
              <a:t>Источники в репозитории O:/Engine/Engine:</a:t>
            </a:r>
          </a:p>
          <a:p xmlns:a="http://schemas.openxmlformats.org/drawingml/2006/main">
            <a:r>
              <a:t>Editor/Source/MainWindow.cpp</a:t>
            </a:r>
          </a:p>
          <a:p xmlns:a="http://schemas.openxmlformats.org/drawingml/2006/main">
            <a:r>
              <a:t>Editor/Source/SceneTools.cpp</a:t>
            </a:r>
          </a:p>
          <a:p xmlns:a="http://schemas.openxmlformats.org/drawingml/2006/main">
            <a:r>
              <a:t>Editor/Source/FileBrowser.cpp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Управление на слайде относится к Edit. Точные координаты удобнее задавать в инспекторе. В Play те же WASD обслуживают персонажа при включённой стандартной схеме. Delete действует в иерархии, чтобы не перехватывать удаление текста в полях. ЛКМ может также начать перетаскивание выбранного объекта. Доступность операций зависит от фокуса и текущего режима.</a:t>
            </a:r>
          </a:p>
          <a:p xmlns:a="http://schemas.openxmlformats.org/drawingml/2006/main">
            <a:r>
              <a:t/>
            </a:r>
          </a:p>
          <a:p xmlns:a="http://schemas.openxmlformats.org/drawingml/2006/main">
            <a:r>
              <a:t>Источники в репозитории O:/Engine/Engine:</a:t>
            </a:r>
          </a:p>
          <a:p xmlns:a="http://schemas.openxmlformats.org/drawingml/2006/main">
            <a:r>
              <a:t>Editor/Source/ViewportWidget.cpp</a:t>
            </a:r>
          </a:p>
          <a:p xmlns:a="http://schemas.openxmlformats.org/drawingml/2006/main">
            <a:r>
              <a:t>Editor/Source/SceneTools.cpp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 учебные значения, их можно изменить. Плоскость имеет нулевую толщину. Для удаления клавишей Delete сначала выберите строку в иерархии. Отмена/повтор поддерживают изменения сцены, но не произвольные изменения файлов C++ во внешнем редакторе. В Edit сцена является рабочей, а в Play используется её временная копия.</a:t>
            </a:r>
          </a:p>
          <a:p xmlns:a="http://schemas.openxmlformats.org/drawingml/2006/main">
            <a:r>
              <a:t/>
            </a:r>
          </a:p>
          <a:p xmlns:a="http://schemas.openxmlformats.org/drawingml/2006/main">
            <a:r>
              <a:t>Источники в репозитории O:/Engine/Engine:</a:t>
            </a:r>
          </a:p>
          <a:p xmlns:a="http://schemas.openxmlformats.org/drawingml/2006/main">
            <a:r>
              <a:t>Editor/Source/SceneTools.cpp</a:t>
            </a:r>
          </a:p>
          <a:p xmlns:a="http://schemas.openxmlformats.org/drawingml/2006/main">
            <a:r>
              <a:t>Engine/Include/Engine/Project/StandardTypes.h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Текущая локальная Release-сборка включает Assimp. Сначала импортируйте внешний ресурс в проект, затем используйте его в сцене. Для GLTF учитывайте внешние буферы и текстуры. Переносите проект целиком с Content, а не только файл сцены. Внутренний путь /Game/ указывает на Content проекта, /Engine/ на общие ресурсы установленного движка. Формат в фильтре файла не гарантирует поддержку всех особенностей произвольной модели.</a:t>
            </a:r>
          </a:p>
          <a:p xmlns:a="http://schemas.openxmlformats.org/drawingml/2006/main">
            <a:r>
              <a:t/>
            </a:r>
          </a:p>
          <a:p xmlns:a="http://schemas.openxmlformats.org/drawingml/2006/main">
            <a:r>
              <a:t>Источники в репозитории O:/Engine/Engine:</a:t>
            </a:r>
          </a:p>
          <a:p xmlns:a="http://schemas.openxmlformats.org/drawingml/2006/main">
            <a:r>
              <a:t>Editor/Source/AssetTools.cpp</a:t>
            </a:r>
          </a:p>
          <a:p xmlns:a="http://schemas.openxmlformats.org/drawingml/2006/main">
            <a:r>
              <a:t>Engine/docs/USER-PROJECTS.md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Свет, искры, дым и небо входят в стандартный каталог проекта без кода. Конкретные параметры инспектора зависят от выбранного типа. Небо не отбрасывает тень. Для сложного поведения эффекта можно создать C++ компонент. При отладке сначала проверьте, что источник или эффект включён и расположен рядом с наблюдаемыми объектами.</a:t>
            </a:r>
          </a:p>
          <a:p xmlns:a="http://schemas.openxmlformats.org/drawingml/2006/main">
            <a:r>
              <a:t/>
            </a:r>
          </a:p>
          <a:p xmlns:a="http://schemas.openxmlformats.org/drawingml/2006/main">
            <a:r>
              <a:t>Источники в репозитории O:/Engine/Engine:</a:t>
            </a:r>
          </a:p>
          <a:p xmlns:a="http://schemas.openxmlformats.org/drawingml/2006/main">
            <a:r>
              <a:t>Engine/Include/Engine/Project/StandardTypes.h</a:t>
            </a:r>
          </a:p>
          <a:p xmlns:a="http://schemas.openxmlformats.org/drawingml/2006/main">
            <a:r>
              <a:t>Editor/Source/SceneTools.cpp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Размеры указаны для стандартного масштаба (0.6, 1.8, 0.6) и единичного цилиндра. Существующая сохранённая трансформация имеет приоритет при загрузке. Установка Y=0.9 визуально ставит цилиндр на пол, но физического контакта здесь нет. Выберите персонажа и откройте «Сцена → Скорость выбранного персонажа…». Стандартная скорость равна 5 единицам в секунду. Character можно оставить без управления, например для будущей логики ИИ.</a:t>
            </a:r>
          </a:p>
          <a:p xmlns:a="http://schemas.openxmlformats.org/drawingml/2006/main">
            <a:r>
              <a:t/>
            </a:r>
          </a:p>
          <a:p xmlns:a="http://schemas.openxmlformats.org/drawingml/2006/main">
            <a:r>
              <a:t>Источники в репозитории O:/Engine/Engine:</a:t>
            </a:r>
          </a:p>
          <a:p xmlns:a="http://schemas.openxmlformats.org/drawingml/2006/main">
            <a:r>
              <a:t>Engine/Source/Components/Character.cpp</a:t>
            </a:r>
          </a:p>
          <a:p xmlns:a="http://schemas.openxmlformats.org/drawingml/2006/main">
            <a:r>
              <a:t>Editor/Source/SceneTools.cpp</a:t>
            </a:r>
          </a:p>
          <a:p xmlns:a="http://schemas.openxmlformats.org/drawingml/2006/main">
            <a:r>
              <a:t>Engine/docs/INPUT-CHARACTER.md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Чтобы использовать фиксированную камеру, добавьте «Игровые объекты → Камера Play», задайте её трансформацию и выберите в диалоге. Направление взгляда камеры совпадает с локальной осью -Z. При стандартном контроллере отдельная камера остаётся фиксированной. Поле «Без управления персонажем» снимает назначение. Снятие флажка стандартного управления полезно при собственной реализации контроллера. Настройки сохраняются вместе со сценой.</a:t>
            </a:r>
          </a:p>
          <a:p xmlns:a="http://schemas.openxmlformats.org/drawingml/2006/main">
            <a:r>
              <a:t/>
            </a:r>
          </a:p>
          <a:p xmlns:a="http://schemas.openxmlformats.org/drawingml/2006/main">
            <a:r>
              <a:t>Источники в репозитории O:/Engine/Engine:</a:t>
            </a:r>
          </a:p>
          <a:p xmlns:a="http://schemas.openxmlformats.org/drawingml/2006/main">
            <a:r>
              <a:t>Editor/Source/SceneTools.cpp</a:t>
            </a:r>
          </a:p>
          <a:p xmlns:a="http://schemas.openxmlformats.org/drawingml/2006/main">
            <a:r>
              <a:t>Engine/Source/Components/Character.cpp</a:t>
            </a:r>
          </a:p>
          <a:p xmlns:a="http://schemas.openxmlformats.org/drawingml/2006/main">
            <a:r>
              <a:t>Engine/docs/INPUT-CHARACTER.md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После Play щёлкните viewport для фокуса. Ввод в текстовое поле отключает управление персонажем, но сам по себе не ставит всю симуляцию на паузу. Удерживаемые клавиши сбрасываются при потере фокуса и смене режима. Изменения временной копии Play не переносятся в Edit после Stop. Space и P без модификаторов зарезервированы редактором, но это не универсальное ограничение standalone-игры.</a:t>
            </a:r>
          </a:p>
          <a:p xmlns:a="http://schemas.openxmlformats.org/drawingml/2006/main">
            <a:r>
              <a:t/>
            </a:r>
          </a:p>
          <a:p xmlns:a="http://schemas.openxmlformats.org/drawingml/2006/main">
            <a:r>
              <a:t>Источники в репозитории O:/Engine/Engine:</a:t>
            </a:r>
          </a:p>
          <a:p xmlns:a="http://schemas.openxmlformats.org/drawingml/2006/main">
            <a:r>
              <a:t>Engine/docs/INPUT-CHARACTER.md</a:t>
            </a:r>
          </a:p>
          <a:p xmlns:a="http://schemas.openxmlformats.org/drawingml/2006/main">
            <a:r>
              <a:t>Editor/Source/ViewportWidget.cpp</a:t>
            </a:r>
          </a:p>
          <a:p xmlns:a="http://schemas.openxmlformats.org/drawingml/2006/main">
            <a:r>
              <a:t>Editor/Source/MainWindow.cpp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Упражнение: создайте сцену с плоскостью и цилиндром, пройдите вокруг ориентира и остановите Play. Затем измените положение персонажа в Edit и повторите запуск. Чтобы проверить фиксированную камеру, добавьте Camera Play и назначьте её вместо режима слежения. Перед отдельным запуском через лаунчер сохраните сцену. Не проверяйте столкновения со стеной как критерий успеха: у базового персонажа они пока отсутствуют.</a:t>
            </a:r>
          </a:p>
          <a:p xmlns:a="http://schemas.openxmlformats.org/drawingml/2006/main">
            <a:r>
              <a:t/>
            </a:r>
          </a:p>
          <a:p xmlns:a="http://schemas.openxmlformats.org/drawingml/2006/main">
            <a:r>
              <a:t>Источники в репозитории O:/Engine/Engine:</a:t>
            </a:r>
          </a:p>
          <a:p xmlns:a="http://schemas.openxmlformats.org/drawingml/2006/main">
            <a:r>
              <a:t>Engine/docs/INPUT-CHARACTER.md</a:t>
            </a:r>
          </a:p>
          <a:p xmlns:a="http://schemas.openxmlformats.org/drawingml/2006/main">
            <a:r>
              <a:t>Editor/Source/SceneTools.cpp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 текущем меню сохранение делает выбранную сцену стартовой. «Сохранить как…» создаёт отдельный файл. Сцена содержит ссылки на ресурсы, поэтому одного JSON недостаточно для переноса. После успешной сборки C++ Project.json указывает на новую DLL в Binaries. Не удаляйте активную DLL. Старые сцены без персонажа продолжают открываться. Персонаж и назначения Play сохраняются в данных компонентов.</a:t>
            </a:r>
          </a:p>
          <a:p xmlns:a="http://schemas.openxmlformats.org/drawingml/2006/main">
            <a:r>
              <a:t/>
            </a:r>
          </a:p>
          <a:p xmlns:a="http://schemas.openxmlformats.org/drawingml/2006/main">
            <a:r>
              <a:t>Источники в репозитории O:/Engine/Engine:</a:t>
            </a:r>
          </a:p>
          <a:p xmlns:a="http://schemas.openxmlformats.org/drawingml/2006/main">
            <a:r>
              <a:t>Engine/docs/CODE-PROJECTS.md</a:t>
            </a:r>
          </a:p>
          <a:p xmlns:a="http://schemas.openxmlformats.org/drawingml/2006/main">
            <a:r>
              <a:t>Engine/docs/SCENE-JSON.md</a:t>
            </a:r>
          </a:p>
          <a:p xmlns:a="http://schemas.openxmlformats.org/drawingml/2006/main">
            <a:r>
              <a:t>Editor/Source/SceneTools.cpp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Графического редактора переназначения всех действий сейчас нет. Привязки можно менять в C++ без замены обработчиков. Каталог поддерживает Component, Character как семейство компонента, Game и обычные Object через существующий адаптер. Класс Game выбирается отдельно для запуска, а компоненты и поддерживаемые Object появляются в палитре после сборки и перезапуска.</a:t>
            </a:r>
          </a:p>
          <a:p xmlns:a="http://schemas.openxmlformats.org/drawingml/2006/main">
            <a:r>
              <a:t/>
            </a:r>
          </a:p>
          <a:p xmlns:a="http://schemas.openxmlformats.org/drawingml/2006/main">
            <a:r>
              <a:t>Источники в репозитории O:/Engine/Engine:</a:t>
            </a:r>
          </a:p>
          <a:p xmlns:a="http://schemas.openxmlformats.org/drawingml/2006/main">
            <a:r>
              <a:t>Engine/docs/INPUT-CHARACTER.md</a:t>
            </a:r>
          </a:p>
          <a:p xmlns:a="http://schemas.openxmlformats.org/drawingml/2006/main">
            <a:r>
              <a:t>Engine/docs/CODE-PROJECTS.md</a:t>
            </a:r>
          </a:p>
          <a:p xmlns:a="http://schemas.openxmlformats.org/drawingml/2006/main">
            <a:r>
              <a:t>Editor/Source/CodeTools.cpp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Назначение Character подставляет родителя Character и его SDK-заголовок. Для собственного родителя укажите класс и заголовок относительно Source или SDK Include. Мастер создаёт .h и .cpp, проверяет дубликаты и не перезаписывает исходники. Пробелы по краям имени удаляются. Сам файл класса ещё не делает его доступным текущему процессу редактора: нужна сборка и повторное открытие. При ошибке сборки прежняя DLL остаётся активной.</a:t>
            </a:r>
          </a:p>
          <a:p xmlns:a="http://schemas.openxmlformats.org/drawingml/2006/main">
            <a:r>
              <a:t/>
            </a:r>
          </a:p>
          <a:p xmlns:a="http://schemas.openxmlformats.org/drawingml/2006/main">
            <a:r>
              <a:t>Источники в репозитории O:/Engine/Engine:</a:t>
            </a:r>
          </a:p>
          <a:p xmlns:a="http://schemas.openxmlformats.org/drawingml/2006/main">
            <a:r>
              <a:t>Editor/Include/CodeClassDialog.h</a:t>
            </a:r>
          </a:p>
          <a:p xmlns:a="http://schemas.openxmlformats.org/drawingml/2006/main">
            <a:r>
              <a:t>Editor/Source/CodeTools.cpp</a:t>
            </a:r>
          </a:p>
          <a:p xmlns:a="http://schemas.openxmlformats.org/drawingml/2006/main">
            <a:r>
              <a:t>Engine/BuildSupport/ProjectTools.ps1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Это фрагмент реализации класса MyHero, созданного мастером с родителем Character. BeginPlay не запускается в Edit или Pause. Для динамически созданного компонента он выполняется перед первым игровым обновлением. Если наследуетесь от собственного MyBaseHero, вызывайте MyBaseHero::BeginPlay и MyBaseHero::Tick. Сам Character не навязывает управление: можно оставить его для ИИ или использовать собственный контроллер. Не вводите ручную подписку в конструктор компонента, если для неё нужен ещё не назначенный Game.</a:t>
            </a:r>
          </a:p>
          <a:p xmlns:a="http://schemas.openxmlformats.org/drawingml/2006/main">
            <a:r>
              <a:t/>
            </a:r>
          </a:p>
          <a:p xmlns:a="http://schemas.openxmlformats.org/drawingml/2006/main">
            <a:r>
              <a:t>Источники в репозитории O:/Engine/Engine:</a:t>
            </a:r>
          </a:p>
          <a:p xmlns:a="http://schemas.openxmlformats.org/drawingml/2006/main">
            <a:r>
              <a:t>Engine/BuildSupport/ProjectTools.ps1</a:t>
            </a:r>
          </a:p>
          <a:p xmlns:a="http://schemas.openxmlformats.org/drawingml/2006/main">
            <a:r>
              <a:t>Engine/Source/Components/GameComponents.cpp</a:t>
            </a:r>
          </a:p>
          <a:p xmlns:a="http://schemas.openxmlformats.org/drawingml/2006/main">
            <a:r>
              <a:t>Engine/docs/INPUT-CHARACTER.md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Полная последовательность: устройство ввода → контекст → именованное действие → обработчик → контроллер → персонаж/камера. Qt отдельно обрабатывает редакторский интерфейс и передаёт игре события только из сфокусированного viewport в Play. Приоритеты контекстов внутри Input::System по умолчанию: UI 200, Editor 100, Game 0. Изначально включён только Game. Все операции системы ввода выполняются в потоке движка.</a:t>
            </a:r>
          </a:p>
          <a:p xmlns:a="http://schemas.openxmlformats.org/drawingml/2006/main">
            <a:r>
              <a:t/>
            </a:r>
          </a:p>
          <a:p xmlns:a="http://schemas.openxmlformats.org/drawingml/2006/main">
            <a:r>
              <a:t>Источники в репозитории O:/Engine/Engine:</a:t>
            </a:r>
          </a:p>
          <a:p xmlns:a="http://schemas.openxmlformats.org/drawingml/2006/main">
            <a:r>
              <a:t>Engine/Include/Engine/InputDevice/InputActions.h</a:t>
            </a:r>
          </a:p>
          <a:p xmlns:a="http://schemas.openxmlformats.org/drawingml/2006/main">
            <a:r>
              <a:t>Engine/docs/INPUT-CHARACTER.md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Добавьте #include &lt;Engine/InputDevice/InputActions.h&gt;. Метод Mark реализуйте в своём классе. Передайте Game::GetInput() при создании Commands и сохраните сам Commands на нужное время. Scope объявляют после полей, которые использует обработчик, чтобы при разрушении он отключился первым. Connection хранится, иначе временный объект сразу отпишется. Не захватывайте сторонний сырой указатель с меньшим временем жизни. Смена режима и фокуса сбрасывает активные действия.</a:t>
            </a:r>
          </a:p>
          <a:p xmlns:a="http://schemas.openxmlformats.org/drawingml/2006/main">
            <a:r>
              <a:t/>
            </a:r>
          </a:p>
          <a:p xmlns:a="http://schemas.openxmlformats.org/drawingml/2006/main">
            <a:r>
              <a:t>Источники в репозитории O:/Engine/Engine:</a:t>
            </a:r>
          </a:p>
          <a:p xmlns:a="http://schemas.openxmlformats.org/drawingml/2006/main">
            <a:r>
              <a:t>Engine/Include/Engine/InputDevice/InputActions.h</a:t>
            </a:r>
          </a:p>
          <a:p xmlns:a="http://schemas.openxmlformats.org/drawingml/2006/main">
            <a:r>
              <a:t>Engine/docs/INPUT-CHARACTER.md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Приоритет: контекст, затем Binding::priority, затем длина сочетания и порядок регистрации. consume=true действует по умолчанию; consume=false разрешает дальнейшую передачу. Если K нажали до Ctrl, обычный K уже получил Pressed: сочетание не отменяет доставленное событие. При смене активной привязки приходят соответствующие Released/Pressed. Повторы key-down ОС не создают новые Pressed. Held приходит каждый активный кадр. Для оси используйте подписку Phase::Axis и Event::value. Переназначение сбрасывает текущие действия и требует отпускания удержанных клавиш.</a:t>
            </a:r>
          </a:p>
          <a:p xmlns:a="http://schemas.openxmlformats.org/drawingml/2006/main">
            <a:r>
              <a:t/>
            </a:r>
          </a:p>
          <a:p xmlns:a="http://schemas.openxmlformats.org/drawingml/2006/main">
            <a:r>
              <a:t>Источники в репозитории O:/Engine/Engine:</a:t>
            </a:r>
          </a:p>
          <a:p xmlns:a="http://schemas.openxmlformats.org/drawingml/2006/main">
            <a:r>
              <a:t>Engine/Include/Engine/InputDevice/InputActions.h</a:t>
            </a:r>
          </a:p>
          <a:p xmlns:a="http://schemas.openxmlformats.org/drawingml/2006/main">
            <a:r>
              <a:t>Engine/docs/INPUT-CHARACTER.md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Добавьте #include &lt;Engine/MainGame/CharacterController.h&gt;. В пользовательском Game объявите std::unique_ptr&lt;CharacterController&gt; CreateCharacterController() override; и реализуйте: std::unique_ptr&lt;CharacterController&gt; MyGame::CreateCharacterController() { return std::make_unique&lt;MyController&gt;(*this); }. Выберите MyGame через «Классы проекта… → Выбрать Game». Персонажа по-прежнему назначьте в «Настроить Play…». Оставьте управление включённым, чтобы контроллер был активен. Здесь BindInput полностью заменяет стандартную схему, поэтому WASD и обзор ПКМ больше не зарегистрированы этим контроллером. При необходимости добавьте собственные оси, свой Tick и UpdateCamera. Character можно заменить через Possess.</a:t>
            </a:r>
          </a:p>
          <a:p xmlns:a="http://schemas.openxmlformats.org/drawingml/2006/main">
            <a:r>
              <a:t/>
            </a:r>
          </a:p>
          <a:p xmlns:a="http://schemas.openxmlformats.org/drawingml/2006/main">
            <a:r>
              <a:t>Источники в репозитории O:/Engine/Engine:</a:t>
            </a:r>
          </a:p>
          <a:p xmlns:a="http://schemas.openxmlformats.org/drawingml/2006/main">
            <a:r>
              <a:t>Engine/Include/Engine/MainGame/CharacterController.h</a:t>
            </a:r>
          </a:p>
          <a:p xmlns:a="http://schemas.openxmlformats.org/drawingml/2006/main">
            <a:r>
              <a:t>Engine/Source/MainGame/CharacterController.cpp</a:t>
            </a:r>
          </a:p>
          <a:p xmlns:a="http://schemas.openxmlformats.org/drawingml/2006/main">
            <a:r>
              <a:t>Engine/docs/INPUT-CHARACTER.md</a:t>
            </a:r>
          </a:p>
          <a:p xmlns:a="http://schemas.openxmlformats.org/drawingml/2006/main">
            <a:r>
              <a:t>Editor/Source/CodeTools.cpp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Выпуск 2026.10.27.0 изменил C++ интерфейс при добавлении ввода и Character. Старые C++ DLL нужно пересобрать для нового SDK. Существующий путь обновления сохраняет исходный проект и работает с копией. Формат сцены остаётся 3, основные Module/Edit API равны 5, поддерживается совместимый редакторский API 4. Это техническая справка, а не инструкция вручную менять номера. Локальная замена геометрии цилиндром не меняет раскладку класса или формат сцены.</a:t>
            </a:r>
          </a:p>
          <a:p xmlns:a="http://schemas.openxmlformats.org/drawingml/2006/main">
            <a:r>
              <a:t/>
            </a:r>
          </a:p>
          <a:p xmlns:a="http://schemas.openxmlformats.org/drawingml/2006/main">
            <a:r>
              <a:t>Источники в репозитории O:/Engine/Engine:</a:t>
            </a:r>
          </a:p>
          <a:p xmlns:a="http://schemas.openxmlformats.org/drawingml/2006/main">
            <a:r>
              <a:t>Engine/docs/ENGINE-VERSIONS.md</a:t>
            </a:r>
          </a:p>
          <a:p xmlns:a="http://schemas.openxmlformats.org/drawingml/2006/main">
            <a:r>
              <a:t>Engine/Version.json</a:t>
            </a:r>
          </a:p>
          <a:p xmlns:a="http://schemas.openxmlformats.org/drawingml/2006/main">
            <a:r>
              <a:t>Engine/docs/INPUT-CHARACTER.md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При ошибке компиляции прежняя DLL остаётся активной, поэтому поведение игры может выглядеть как до изменения кода. Найдите первую ошибку в Console или CodeBuild.log. Если кандидат не прошёл проверку, читайте validate-error.log или startup-error.log в его папке Binaries. Не удаляйте предыдущую DLL ради устранения ошибки. При проблеме с именем класса 5454 замените, например, на Character5454. Если нужного типа нет в палитре, проверьте категорию «Классы проекта» и аннотацию класса.</a:t>
            </a:r>
          </a:p>
          <a:p xmlns:a="http://schemas.openxmlformats.org/drawingml/2006/main">
            <a:r>
              <a:t/>
            </a:r>
          </a:p>
          <a:p xmlns:a="http://schemas.openxmlformats.org/drawingml/2006/main">
            <a:r>
              <a:t>Источники в репозитории O:/Engine/Engine:</a:t>
            </a:r>
          </a:p>
          <a:p xmlns:a="http://schemas.openxmlformats.org/drawingml/2006/main">
            <a:r>
              <a:t>Engine/docs/CODE-PROJECTS.md</a:t>
            </a:r>
          </a:p>
          <a:p xmlns:a="http://schemas.openxmlformats.org/drawingml/2006/main">
            <a:r>
              <a:t>Editor/Include/CodeClassDialog.h</a:t>
            </a:r>
          </a:p>
          <a:p xmlns:a="http://schemas.openxmlformats.org/drawingml/2006/main">
            <a:r>
              <a:t>Engine/docs/INPUT-CHARACTER.md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Презентация хранится вместе с редактируемыми данными, генератором и историей редакций в Engine/docs/tutorial. Обновление выполняется по запросу пользователя. При обновлении нужно сверить меню, горячие клавиши, код SDK и ограничения с фактическим состоянием движка. Предыдущие редакции сохраняются. Навык называется engine-tutorial-presentation, отображаемое имя «дай презентацию-туториал».</a:t>
            </a:r>
          </a:p>
          <a:p xmlns:a="http://schemas.openxmlformats.org/drawingml/2006/main">
            <a:r>
              <a:t/>
            </a:r>
          </a:p>
          <a:p xmlns:a="http://schemas.openxmlformats.org/drawingml/2006/main">
            <a:r>
              <a:t>Источники в репозитории O:/Engine/Engine:</a:t>
            </a:r>
          </a:p>
          <a:p xmlns:a="http://schemas.openxmlformats.org/drawingml/2006/main">
            <a:r>
              <a:t>Engine/docs/tutorial/current.json</a:t>
            </a:r>
          </a:p>
          <a:p xmlns:a="http://schemas.openxmlformats.org/drawingml/2006/main">
            <a:r>
              <a:t>Engine/Version.json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a424f1b5122468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f415aaa186745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df32925781a4c2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6444cd171c14f4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aedf0b6ab054a3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13fdd38cf5746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A9B2351-D94F-4853-9826-6A6DC81DC97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EBC3EC-2791-474E-8093-67CE1CF8B38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31923E9-465B-42C5-A7E4-6EEC45421CF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294BDD-E6D7-4AF7-8B6D-13A2515219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2D2126A-1230-4DFD-A289-53FBE0778A7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537350D-95CC-4ECB-AD45-64AC4110BE0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B036966-B16B-4499-AC7A-953E3ECC70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6DA952-97AA-4456-A68E-7DB36125705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E65471-0931-47B5-A261-FE78FBEFC63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2592CC9-AA47-4F60-AACB-EB518499EA7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a3d9cb166ca40f9" /><Relationship Type="http://schemas.openxmlformats.org/officeDocument/2006/relationships/slideLayout" Target="/ppt/slideLayouts/slideLayout1.xml" Id="Rcff14966200a497f" /><Relationship Type="http://schemas.openxmlformats.org/officeDocument/2006/relationships/slideLayout" Target="/ppt/slideLayouts/slideLayout2.xml" Id="Rca25c4094c1e4c3f" /><Relationship Type="http://schemas.openxmlformats.org/officeDocument/2006/relationships/slideLayout" Target="/ppt/slideLayouts/slideLayout3.xml" Id="R1334907a64734b84" /><Relationship Type="http://schemas.openxmlformats.org/officeDocument/2006/relationships/slideLayout" Target="/ppt/slideLayouts/slideLayout4.xml" Id="R955633bafa8d4b60" /><Relationship Type="http://schemas.openxmlformats.org/officeDocument/2006/relationships/slideLayout" Target="/ppt/slideLayouts/slideLayout5.xml" Id="Rfcc916a29064466f" /><Relationship Type="http://schemas.openxmlformats.org/officeDocument/2006/relationships/slideLayout" Target="/ppt/slideLayouts/slideLayout6.xml" Id="R4b9cf5ed537a47c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ff14966200a497f"/>
    <p:sldLayoutId xmlns:r="http://schemas.openxmlformats.org/officeDocument/2006/relationships" id="2147483650" r:id="Rca25c4094c1e4c3f"/>
    <p:sldLayoutId xmlns:r="http://schemas.openxmlformats.org/officeDocument/2006/relationships" id="2147483651" r:id="R1334907a64734b84"/>
    <p:sldLayoutId xmlns:r="http://schemas.openxmlformats.org/officeDocument/2006/relationships" id="2147483652" r:id="R955633bafa8d4b60"/>
    <p:sldLayoutId xmlns:r="http://schemas.openxmlformats.org/officeDocument/2006/relationships" id="2147483653" r:id="Rfcc916a29064466f"/>
    <p:sldLayoutId xmlns:r="http://schemas.openxmlformats.org/officeDocument/2006/relationships" id="2147483654" r:id="R4b9cf5ed537a47c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2899c0fb50f4258" /><Relationship Type="http://schemas.openxmlformats.org/officeDocument/2006/relationships/image" Target="/ppt/media/image.png" Id="R97de4ec3b82d4ebb" /><Relationship Type="http://schemas.openxmlformats.org/officeDocument/2006/relationships/notesSlide" Target="/ppt/notesSlides/notesSlide1.xml" Id="R9ad93a4dd0c84e8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4fb64e9dd5d41c7" /><Relationship Type="http://schemas.openxmlformats.org/officeDocument/2006/relationships/notesSlide" Target="/ppt/notesSlides/notesSlide2.xml" Id="Rf41693f8919341a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8f75bdc5bd6488e" /><Relationship Type="http://schemas.openxmlformats.org/officeDocument/2006/relationships/notesSlide" Target="/ppt/notesSlides/notesSlide3.xml" Id="R44231c1ca7c44f7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fba1003bca744dd" /><Relationship Type="http://schemas.openxmlformats.org/officeDocument/2006/relationships/image" Target="/ppt/media/image2.png" Id="R1dc442513ccb419f" /><Relationship Type="http://schemas.openxmlformats.org/officeDocument/2006/relationships/notesSlide" Target="/ppt/notesSlides/notesSlide4.xml" Id="Ra06f516a7db946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6f652924df6489c" /><Relationship Type="http://schemas.openxmlformats.org/officeDocument/2006/relationships/notesSlide" Target="/ppt/notesSlides/notesSlide5.xml" Id="R8fc9d8e7f836488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b79e03e5a2b449d" /><Relationship Type="http://schemas.openxmlformats.org/officeDocument/2006/relationships/notesSlide" Target="/ppt/notesSlides/notesSlide6.xml" Id="R5de7dd9272404e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e1711891c594001" /><Relationship Type="http://schemas.openxmlformats.org/officeDocument/2006/relationships/notesSlide" Target="/ppt/notesSlides/notesSlide7.xml" Id="R3a2f23fa21d24d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19c25dd07814856" /><Relationship Type="http://schemas.openxmlformats.org/officeDocument/2006/relationships/notesSlide" Target="/ppt/notesSlides/notesSlide8.xml" Id="R87bcb785fd0942f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65138c1012f4cdd" /><Relationship Type="http://schemas.openxmlformats.org/officeDocument/2006/relationships/notesSlide" Target="/ppt/notesSlides/notesSlide9.xml" Id="Rc4a11fd3631a4ba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716715281e24d6e" /><Relationship Type="http://schemas.openxmlformats.org/officeDocument/2006/relationships/notesSlide" Target="/ppt/notesSlides/notesSlide10.xml" Id="R4dc0e4616bdb498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ad5d930be2e466d" /><Relationship Type="http://schemas.openxmlformats.org/officeDocument/2006/relationships/notesSlide" Target="/ppt/notesSlides/notesSlide11.xml" Id="R4cb3b05c912c48f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aa6e5d0396b4bd2" /><Relationship Type="http://schemas.openxmlformats.org/officeDocument/2006/relationships/notesSlide" Target="/ppt/notesSlides/notesSlide12.xml" Id="R2e05b330d7de4d8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a08e8853b1e4a57" /><Relationship Type="http://schemas.openxmlformats.org/officeDocument/2006/relationships/notesSlide" Target="/ppt/notesSlides/notesSlide13.xml" Id="Reaf01e3911194c2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ecbcfabc9594633" /><Relationship Type="http://schemas.openxmlformats.org/officeDocument/2006/relationships/notesSlide" Target="/ppt/notesSlides/notesSlide14.xml" Id="R8a810d04cc7c4cc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040ff5ba130401b" /><Relationship Type="http://schemas.openxmlformats.org/officeDocument/2006/relationships/notesSlide" Target="/ppt/notesSlides/notesSlide15.xml" Id="Rf8250375cb9846d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0c8ebda547d4617" /><Relationship Type="http://schemas.openxmlformats.org/officeDocument/2006/relationships/notesSlide" Target="/ppt/notesSlides/notesSlide16.xml" Id="R46ed3e62c2704bb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3f897da3e7b4fd1" /><Relationship Type="http://schemas.openxmlformats.org/officeDocument/2006/relationships/notesSlide" Target="/ppt/notesSlides/notesSlide17.xml" Id="R971d8f6d3c31481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1363aa010d054574" /><Relationship Type="http://schemas.openxmlformats.org/officeDocument/2006/relationships/notesSlide" Target="/ppt/notesSlides/notesSlide18.xml" Id="R6e63a4fd378740d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b44258c34894d08" /><Relationship Type="http://schemas.openxmlformats.org/officeDocument/2006/relationships/notesSlide" Target="/ppt/notesSlides/notesSlide19.xml" Id="R1e83a687e6e64d4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5c1760ca288474f" /><Relationship Type="http://schemas.openxmlformats.org/officeDocument/2006/relationships/notesSlide" Target="/ppt/notesSlides/notesSlide20.xml" Id="R173fa1ceb67043e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4ce2a8e71cd4aa7" /><Relationship Type="http://schemas.openxmlformats.org/officeDocument/2006/relationships/notesSlide" Target="/ppt/notesSlides/notesSlide21.xml" Id="Rdf7540be454e4eb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6efdac332a44ab6" /><Relationship Type="http://schemas.openxmlformats.org/officeDocument/2006/relationships/notesSlide" Target="/ppt/notesSlides/notesSlide22.xml" Id="R74922970514b444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cf4487e82d8442f3" /><Relationship Type="http://schemas.openxmlformats.org/officeDocument/2006/relationships/notesSlide" Target="/ppt/notesSlides/notesSlide23.xml" Id="Rff4a9a8bb6bb4d51" /></Relationships>
</file>

<file path=ppt/slides/slide1.xml><?xml version="1.0" encoding="utf-8"?>
<p:sld xmlns:p="http://schemas.openxmlformats.org/presentationml/2006/main">
  <p:cSld>
    <p:bg>
      <p:bgPr>
        <a:solidFill xmlns:a="http://schemas.openxmlformats.org/drawingml/2006/main">
          <a:srgbClr val="101C29"/>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EA9ECC5F-2540-4FF6-BCA3-E47577F49C7C}"/>
              </a:ext>
            </a:extLst>
          </p:cNvPr>
          <p:cNvPicPr>
            <a:picLocks xmlns:a="http://schemas.openxmlformats.org/drawingml/2006/main" noChangeAspect="1"/>
          </p:cNvPicPr>
          <p:nvPr/>
        </p:nvPicPr>
        <p:blipFill>
          <a:blip xmlns:r="http://schemas.openxmlformats.org/officeDocument/2006/relationships" xmlns:a="http://schemas.openxmlformats.org/drawingml/2006/main" r:embed="R97de4ec3b82d4ebb"/>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0CCD7D8-5696-4005-A3DA-74A10904BB8B}"/>
              </a:ext>
            </a:extLst>
          </p:cNvPr>
          <p:cNvSpPr>
            <a:spLocks xmlns:a="http://schemas.openxmlformats.org/drawingml/2006/main" noGrp="1"/>
          </p:cNvSpPr>
          <p:nvPr/>
        </p:nvSpPr>
        <p:spPr>
          <a:xfrm xmlns:a="http://schemas.openxmlformats.org/drawingml/2006/main">
            <a:off x="609600" y="1219200"/>
            <a:ext cx="60960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FFFFFF"/>
                </a:solidFill>
                <a:latin typeface="Arial"/>
                <a:ea typeface="Arial"/>
                <a:cs typeface="Arial"/>
              </a:defRPr>
            </a:defPPr>
            <a:lvl1pPr>
              <a:defRPr sz="4500" b="1">
                <a:solidFill>
                  <a:srgbClr val="FFFFFF"/>
                </a:solidFill>
                <a:latin typeface="Arial"/>
                <a:ea typeface="Arial"/>
                <a:cs typeface="Arial"/>
              </a:defRPr>
            </a:lvl1pPr>
            <a:lvl2pPr>
              <a:defRPr sz="4500" b="1">
                <a:solidFill>
                  <a:srgbClr val="FFFFFF"/>
                </a:solidFill>
                <a:latin typeface="Arial"/>
                <a:ea typeface="Arial"/>
                <a:cs typeface="Arial"/>
              </a:defRPr>
            </a:lvl2pPr>
            <a:lvl3pPr>
              <a:defRPr sz="4500" b="1">
                <a:solidFill>
                  <a:srgbClr val="FFFFFF"/>
                </a:solidFill>
                <a:latin typeface="Arial"/>
                <a:ea typeface="Arial"/>
                <a:cs typeface="Arial"/>
              </a:defRPr>
            </a:lvl3pPr>
            <a:lvl4pPr>
              <a:defRPr sz="4500" b="1">
                <a:solidFill>
                  <a:srgbClr val="FFFFFF"/>
                </a:solidFill>
                <a:latin typeface="Arial"/>
                <a:ea typeface="Arial"/>
                <a:cs typeface="Arial"/>
              </a:defRPr>
            </a:lvl4pPr>
            <a:lvl5pPr>
              <a:defRPr sz="4500" b="1">
                <a:solidFill>
                  <a:srgbClr val="FFFFFF"/>
                </a:solidFill>
                <a:latin typeface="Arial"/>
                <a:ea typeface="Arial"/>
                <a:cs typeface="Arial"/>
              </a:defRPr>
            </a:lvl5pPr>
            <a:lvl6pPr>
              <a:defRPr sz="4500" b="1">
                <a:solidFill>
                  <a:srgbClr val="FFFFFF"/>
                </a:solidFill>
                <a:latin typeface="Arial"/>
                <a:ea typeface="Arial"/>
                <a:cs typeface="Arial"/>
              </a:defRPr>
            </a:lvl6pPr>
            <a:lvl7pPr>
              <a:defRPr sz="4500" b="1">
                <a:solidFill>
                  <a:srgbClr val="FFFFFF"/>
                </a:solidFill>
                <a:latin typeface="Arial"/>
                <a:ea typeface="Arial"/>
                <a:cs typeface="Arial"/>
              </a:defRPr>
            </a:lvl7pPr>
            <a:lvl8pPr>
              <a:defRPr sz="4500" b="1">
                <a:solidFill>
                  <a:srgbClr val="FFFFFF"/>
                </a:solidFill>
                <a:latin typeface="Arial"/>
                <a:ea typeface="Arial"/>
                <a:cs typeface="Arial"/>
              </a:defRPr>
            </a:lvl8pPr>
            <a:lvl9pPr>
              <a:defRPr sz="4500" b="1">
                <a:solidFill>
                  <a:srgbClr val="FFFFFF"/>
                </a:solidFill>
                <a:latin typeface="Arial"/>
                <a:ea typeface="Arial"/>
                <a:cs typeface="Arial"/>
              </a:defRPr>
            </a:lvl9pPr>
          </a:lstStyle>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PainEngine</a:t>
            </a:r>
          </a:p>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Практический туториал</a:t>
            </a:r>
          </a:p>
        </p:txBody>
      </p:sp>
      <p:sp>
        <p:nvSpPr>
          <p:cNvPr id="3" name="">
            <a:extLst xmlns:a="http://schemas.openxmlformats.org/drawingml/2006/main">
              <a:ext uri="{FF2B5EF4-FFF2-40B4-BE49-F238E27FC236}">
                <a16:creationId xmlns:a16="http://schemas.microsoft.com/office/drawing/2014/main" id="{14AED761-FC25-4AF2-844D-A794645FD592}"/>
              </a:ext>
            </a:extLst>
          </p:cNvPr>
          <p:cNvSpPr>
            <a:spLocks xmlns:a="http://schemas.openxmlformats.org/drawingml/2006/main" noGrp="1"/>
          </p:cNvSpPr>
          <p:nvPr/>
        </p:nvSpPr>
        <p:spPr>
          <a:xfrm xmlns:a="http://schemas.openxmlformats.org/drawingml/2006/main">
            <a:off x="647700" y="390525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DBEDF3"/>
                </a:solidFill>
                <a:latin typeface="Arial"/>
                <a:ea typeface="Arial"/>
                <a:cs typeface="Arial"/>
              </a:defRPr>
            </a:defPPr>
            <a:lvl1pPr>
              <a:defRPr sz="2250" b="0">
                <a:solidFill>
                  <a:srgbClr val="DBEDF3"/>
                </a:solidFill>
                <a:latin typeface="Arial"/>
                <a:ea typeface="Arial"/>
                <a:cs typeface="Arial"/>
              </a:defRPr>
            </a:lvl1pPr>
            <a:lvl2pPr>
              <a:defRPr sz="2250" b="0">
                <a:solidFill>
                  <a:srgbClr val="DBEDF3"/>
                </a:solidFill>
                <a:latin typeface="Arial"/>
                <a:ea typeface="Arial"/>
                <a:cs typeface="Arial"/>
              </a:defRPr>
            </a:lvl2pPr>
            <a:lvl3pPr>
              <a:defRPr sz="2250" b="0">
                <a:solidFill>
                  <a:srgbClr val="DBEDF3"/>
                </a:solidFill>
                <a:latin typeface="Arial"/>
                <a:ea typeface="Arial"/>
                <a:cs typeface="Arial"/>
              </a:defRPr>
            </a:lvl3pPr>
            <a:lvl4pPr>
              <a:defRPr sz="2250" b="0">
                <a:solidFill>
                  <a:srgbClr val="DBEDF3"/>
                </a:solidFill>
                <a:latin typeface="Arial"/>
                <a:ea typeface="Arial"/>
                <a:cs typeface="Arial"/>
              </a:defRPr>
            </a:lvl4pPr>
            <a:lvl5pPr>
              <a:defRPr sz="2250" b="0">
                <a:solidFill>
                  <a:srgbClr val="DBEDF3"/>
                </a:solidFill>
                <a:latin typeface="Arial"/>
                <a:ea typeface="Arial"/>
                <a:cs typeface="Arial"/>
              </a:defRPr>
            </a:lvl5pPr>
            <a:lvl6pPr>
              <a:defRPr sz="2250" b="0">
                <a:solidFill>
                  <a:srgbClr val="DBEDF3"/>
                </a:solidFill>
                <a:latin typeface="Arial"/>
                <a:ea typeface="Arial"/>
                <a:cs typeface="Arial"/>
              </a:defRPr>
            </a:lvl6pPr>
            <a:lvl7pPr>
              <a:defRPr sz="2250" b="0">
                <a:solidFill>
                  <a:srgbClr val="DBEDF3"/>
                </a:solidFill>
                <a:latin typeface="Arial"/>
                <a:ea typeface="Arial"/>
                <a:cs typeface="Arial"/>
              </a:defRPr>
            </a:lvl7pPr>
            <a:lvl8pPr>
              <a:defRPr sz="2250" b="0">
                <a:solidFill>
                  <a:srgbClr val="DBEDF3"/>
                </a:solidFill>
                <a:latin typeface="Arial"/>
                <a:ea typeface="Arial"/>
                <a:cs typeface="Arial"/>
              </a:defRPr>
            </a:lvl8pPr>
            <a:lvl9pPr>
              <a:defRPr sz="2250" b="0">
                <a:solidFill>
                  <a:srgbClr val="DBEDF3"/>
                </a:solidFill>
                <a:latin typeface="Arial"/>
                <a:ea typeface="Arial"/>
                <a:cs typeface="Arial"/>
              </a:defRPr>
            </a:lvl9pPr>
          </a:lstStyle>
          <a:p xmlns:a="http://schemas.openxmlformats.org/drawingml/2006/main">
            <a:pPr>
              <a:defRPr sz="2250" b="0">
                <a:solidFill>
                  <a:srgbClr val="DBEDF3"/>
                </a:solidFill>
                <a:latin typeface="Arial"/>
                <a:ea typeface="Arial"/>
                <a:cs typeface="Arial"/>
              </a:defRPr>
            </a:pPr>
            <a:r>
              <a:rPr sz="2250" b="0">
                <a:solidFill>
                  <a:srgbClr val="DBEDF3"/>
                </a:solidFill>
                <a:latin typeface="Arial"/>
                <a:ea typeface="Arial"/>
                <a:cs typeface="Arial"/>
              </a:rPr>
              <a:t>От первого проекта</a:t>
            </a:r>
          </a:p>
          <a:p xmlns:a="http://schemas.openxmlformats.org/drawingml/2006/main">
            <a:pPr>
              <a:defRPr sz="2250" b="0">
                <a:solidFill>
                  <a:srgbClr val="DBEDF3"/>
                </a:solidFill>
                <a:latin typeface="Arial"/>
                <a:ea typeface="Arial"/>
                <a:cs typeface="Arial"/>
              </a:defRPr>
            </a:pPr>
            <a:r>
              <a:rPr sz="2250" b="0">
                <a:solidFill>
                  <a:srgbClr val="DBEDF3"/>
                </a:solidFill>
                <a:latin typeface="Arial"/>
                <a:ea typeface="Arial"/>
                <a:cs typeface="Arial"/>
              </a:rPr>
              <a:t>до управляемого персонажа</a:t>
            </a:r>
          </a:p>
        </p:txBody>
      </p:sp>
      <p:sp>
        <p:nvSpPr>
          <p:cNvPr id="4" name="">
            <a:extLst xmlns:a="http://schemas.openxmlformats.org/drawingml/2006/main">
              <a:ext uri="{FF2B5EF4-FFF2-40B4-BE49-F238E27FC236}">
                <a16:creationId xmlns:a16="http://schemas.microsoft.com/office/drawing/2014/main" id="{F567C58B-4367-4D62-85A4-9C1D60F2DFB9}"/>
              </a:ext>
            </a:extLst>
          </p:cNvPr>
          <p:cNvSpPr>
            <a:spLocks xmlns:a="http://schemas.openxmlformats.org/drawingml/2006/main" noGrp="1"/>
          </p:cNvSpPr>
          <p:nvPr/>
        </p:nvSpPr>
        <p:spPr>
          <a:xfrm xmlns:a="http://schemas.openxmlformats.org/drawingml/2006/main">
            <a:off x="647700" y="5905500"/>
            <a:ext cx="647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A6C5D1"/>
                </a:solidFill>
                <a:latin typeface="Arial"/>
                <a:ea typeface="Arial"/>
                <a:cs typeface="Arial"/>
              </a:defRPr>
            </a:defPPr>
            <a:lvl1pPr>
              <a:defRPr sz="1725" b="0">
                <a:solidFill>
                  <a:srgbClr val="A6C5D1"/>
                </a:solidFill>
                <a:latin typeface="Arial"/>
                <a:ea typeface="Arial"/>
                <a:cs typeface="Arial"/>
              </a:defRPr>
            </a:lvl1pPr>
            <a:lvl2pPr>
              <a:defRPr sz="1725" b="0">
                <a:solidFill>
                  <a:srgbClr val="A6C5D1"/>
                </a:solidFill>
                <a:latin typeface="Arial"/>
                <a:ea typeface="Arial"/>
                <a:cs typeface="Arial"/>
              </a:defRPr>
            </a:lvl2pPr>
            <a:lvl3pPr>
              <a:defRPr sz="1725" b="0">
                <a:solidFill>
                  <a:srgbClr val="A6C5D1"/>
                </a:solidFill>
                <a:latin typeface="Arial"/>
                <a:ea typeface="Arial"/>
                <a:cs typeface="Arial"/>
              </a:defRPr>
            </a:lvl3pPr>
            <a:lvl4pPr>
              <a:defRPr sz="1725" b="0">
                <a:solidFill>
                  <a:srgbClr val="A6C5D1"/>
                </a:solidFill>
                <a:latin typeface="Arial"/>
                <a:ea typeface="Arial"/>
                <a:cs typeface="Arial"/>
              </a:defRPr>
            </a:lvl4pPr>
            <a:lvl5pPr>
              <a:defRPr sz="1725" b="0">
                <a:solidFill>
                  <a:srgbClr val="A6C5D1"/>
                </a:solidFill>
                <a:latin typeface="Arial"/>
                <a:ea typeface="Arial"/>
                <a:cs typeface="Arial"/>
              </a:defRPr>
            </a:lvl5pPr>
            <a:lvl6pPr>
              <a:defRPr sz="1725" b="0">
                <a:solidFill>
                  <a:srgbClr val="A6C5D1"/>
                </a:solidFill>
                <a:latin typeface="Arial"/>
                <a:ea typeface="Arial"/>
                <a:cs typeface="Arial"/>
              </a:defRPr>
            </a:lvl6pPr>
            <a:lvl7pPr>
              <a:defRPr sz="1725" b="0">
                <a:solidFill>
                  <a:srgbClr val="A6C5D1"/>
                </a:solidFill>
                <a:latin typeface="Arial"/>
                <a:ea typeface="Arial"/>
                <a:cs typeface="Arial"/>
              </a:defRPr>
            </a:lvl7pPr>
            <a:lvl8pPr>
              <a:defRPr sz="1725" b="0">
                <a:solidFill>
                  <a:srgbClr val="A6C5D1"/>
                </a:solidFill>
                <a:latin typeface="Arial"/>
                <a:ea typeface="Arial"/>
                <a:cs typeface="Arial"/>
              </a:defRPr>
            </a:lvl8pPr>
            <a:lvl9pPr>
              <a:defRPr sz="1725" b="0">
                <a:solidFill>
                  <a:srgbClr val="A6C5D1"/>
                </a:solidFill>
                <a:latin typeface="Arial"/>
                <a:ea typeface="Arial"/>
                <a:cs typeface="Arial"/>
              </a:defRPr>
            </a:lvl9pPr>
          </a:lstStyle>
          <a:p xmlns:a="http://schemas.openxmlformats.org/drawingml/2006/main">
            <a:pPr>
              <a:defRPr sz="1725" b="0">
                <a:solidFill>
                  <a:srgbClr val="A6C5D1"/>
                </a:solidFill>
                <a:latin typeface="Arial"/>
                <a:ea typeface="Arial"/>
                <a:cs typeface="Arial"/>
              </a:defRPr>
            </a:pPr>
            <a:r>
              <a:rPr sz="1725" b="0">
                <a:solidFill>
                  <a:srgbClr val="A6C5D1"/>
                </a:solidFill>
                <a:latin typeface="Arial"/>
                <a:ea typeface="Arial"/>
                <a:cs typeface="Arial"/>
              </a:rPr>
              <a:t>2026.10.27.0   /   27.10.2026</a:t>
            </a:r>
          </a:p>
        </p:txBody>
      </p:sp>
    </p:spTree>
    <p:extLst>
      <p:ext uri="{BB962C8B-B14F-4D97-AF65-F5344CB8AC3E}">
        <p14:creationId xmlns:p14="http://schemas.microsoft.com/office/powerpoint/2010/main" val="173716216"/>
      </p:ext>
    </p:extLst>
  </p:cSld>
</p:sld>
</file>

<file path=ppt/slides/slide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61DCCB3-FA4D-4B0F-804D-B8594F0F77F8}"/>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Что получится в конце</a:t>
            </a:r>
          </a:p>
        </p:txBody>
      </p:sp>
      <p:sp>
        <p:nvSpPr>
          <p:cNvPr id="2" name="">
            <a:extLst xmlns:a="http://schemas.openxmlformats.org/drawingml/2006/main">
              <a:ext uri="{FF2B5EF4-FFF2-40B4-BE49-F238E27FC236}">
                <a16:creationId xmlns:a16="http://schemas.microsoft.com/office/drawing/2014/main" id="{71BB904D-AA9C-4891-A02E-6C4CE51810DB}"/>
              </a:ext>
            </a:extLst>
          </p:cNvPr>
          <p:cNvSpPr>
            <a:spLocks xmlns:a="http://schemas.openxmlformats.org/drawingml/2006/main" noGrp="1"/>
          </p:cNvSpPr>
          <p:nvPr/>
        </p:nvSpPr>
        <p:spPr>
          <a:xfrm xmlns:a="http://schemas.openxmlformats.org/drawingml/2006/main">
            <a:off x="609600" y="1666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Собственная сцена</a:t>
            </a:r>
          </a:p>
        </p:txBody>
      </p:sp>
      <p:sp>
        <p:nvSpPr>
          <p:cNvPr id="3" name="">
            <a:extLst xmlns:a="http://schemas.openxmlformats.org/drawingml/2006/main">
              <a:ext uri="{FF2B5EF4-FFF2-40B4-BE49-F238E27FC236}">
                <a16:creationId xmlns:a16="http://schemas.microsoft.com/office/drawing/2014/main" id="{E61AE898-2112-40FE-A12F-00FD8DF633D0}"/>
              </a:ext>
            </a:extLst>
          </p:cNvPr>
          <p:cNvSpPr>
            <a:spLocks xmlns:a="http://schemas.openxmlformats.org/drawingml/2006/main" noGrp="1"/>
          </p:cNvSpPr>
          <p:nvPr/>
        </p:nvSpPr>
        <p:spPr>
          <a:xfrm xmlns:a="http://schemas.openxmlformats.org/drawingml/2006/main">
            <a:off x="4191000" y="1695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Плоскость, объекты, освещение и сохранённая стартовая сцена.</a:t>
            </a:r>
          </a:p>
        </p:txBody>
      </p:sp>
      <p:sp>
        <p:nvSpPr>
          <p:cNvPr id="4" name="">
            <a:extLst xmlns:a="http://schemas.openxmlformats.org/drawingml/2006/main">
              <a:ext uri="{FF2B5EF4-FFF2-40B4-BE49-F238E27FC236}">
                <a16:creationId xmlns:a16="http://schemas.microsoft.com/office/drawing/2014/main" id="{ADE54639-9BFF-430C-976D-24E1548E3709}"/>
              </a:ext>
            </a:extLst>
          </p:cNvPr>
          <p:cNvSpPr>
            <a:spLocks xmlns:a="http://schemas.openxmlformats.org/drawingml/2006/main" noGrp="1"/>
          </p:cNvSpPr>
          <p:nvPr/>
        </p:nvSpPr>
        <p:spPr>
          <a:xfrm xmlns:a="http://schemas.openxmlformats.org/drawingml/2006/main">
            <a:off x="609600" y="30003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Управляемый персонаж</a:t>
            </a:r>
          </a:p>
        </p:txBody>
      </p:sp>
      <p:sp>
        <p:nvSpPr>
          <p:cNvPr id="5" name="">
            <a:extLst xmlns:a="http://schemas.openxmlformats.org/drawingml/2006/main">
              <a:ext uri="{FF2B5EF4-FFF2-40B4-BE49-F238E27FC236}">
                <a16:creationId xmlns:a16="http://schemas.microsoft.com/office/drawing/2014/main" id="{CDDA837B-28C9-4955-9DBF-57643CD4E858}"/>
              </a:ext>
            </a:extLst>
          </p:cNvPr>
          <p:cNvSpPr>
            <a:spLocks xmlns:a="http://schemas.openxmlformats.org/drawingml/2006/main" noGrp="1"/>
          </p:cNvSpPr>
          <p:nvPr/>
        </p:nvSpPr>
        <p:spPr>
          <a:xfrm xmlns:a="http://schemas.openxmlformats.org/drawingml/2006/main">
            <a:off x="4191000" y="30289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Цилиндр движется по WASD. Камера следует за ним или использует отдельный объект.</a:t>
            </a:r>
          </a:p>
        </p:txBody>
      </p:sp>
      <p:sp>
        <p:nvSpPr>
          <p:cNvPr id="6" name="">
            <a:extLst xmlns:a="http://schemas.openxmlformats.org/drawingml/2006/main">
              <a:ext uri="{FF2B5EF4-FFF2-40B4-BE49-F238E27FC236}">
                <a16:creationId xmlns:a16="http://schemas.microsoft.com/office/drawing/2014/main" id="{632C9167-BEB1-4B94-ACC6-142790DB13D3}"/>
              </a:ext>
            </a:extLst>
          </p:cNvPr>
          <p:cNvSpPr>
            <a:spLocks xmlns:a="http://schemas.openxmlformats.org/drawingml/2006/main" noGrp="1"/>
          </p:cNvSpPr>
          <p:nvPr/>
        </p:nvSpPr>
        <p:spPr>
          <a:xfrm xmlns:a="http://schemas.openxmlformats.org/drawingml/2006/main">
            <a:off x="609600" y="4333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Основа для своей игры</a:t>
            </a:r>
          </a:p>
        </p:txBody>
      </p:sp>
      <p:sp>
        <p:nvSpPr>
          <p:cNvPr id="7" name="">
            <a:extLst xmlns:a="http://schemas.openxmlformats.org/drawingml/2006/main">
              <a:ext uri="{FF2B5EF4-FFF2-40B4-BE49-F238E27FC236}">
                <a16:creationId xmlns:a16="http://schemas.microsoft.com/office/drawing/2014/main" id="{7D857F3E-F2B6-446B-859C-506474C9E1A0}"/>
              </a:ext>
            </a:extLst>
          </p:cNvPr>
          <p:cNvSpPr>
            <a:spLocks xmlns:a="http://schemas.openxmlformats.org/drawingml/2006/main" noGrp="1"/>
          </p:cNvSpPr>
          <p:nvPr/>
        </p:nvSpPr>
        <p:spPr>
          <a:xfrm xmlns:a="http://schemas.openxmlformats.org/drawingml/2006/main">
            <a:off x="4191000" y="4362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Проект без кода можно расширить C++ классами через SDK.</a:t>
            </a:r>
          </a:p>
        </p:txBody>
      </p:sp>
      <p:sp>
        <p:nvSpPr>
          <p:cNvPr id="8" name="">
            <a:extLst xmlns:a="http://schemas.openxmlformats.org/drawingml/2006/main">
              <a:ext uri="{FF2B5EF4-FFF2-40B4-BE49-F238E27FC236}">
                <a16:creationId xmlns:a16="http://schemas.microsoft.com/office/drawing/2014/main" id="{6FA83B81-1EC8-41AB-AFAB-0C5381C2FBEA}"/>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Текущий Character перемещает трансформацию. Физики, столкновений и анимаций у него пока нет.</a:t>
            </a:r>
          </a:p>
        </p:txBody>
      </p:sp>
      <p:sp>
        <p:nvSpPr>
          <p:cNvPr id="9" name="">
            <a:extLst xmlns:a="http://schemas.openxmlformats.org/drawingml/2006/main">
              <a:ext uri="{FF2B5EF4-FFF2-40B4-BE49-F238E27FC236}">
                <a16:creationId xmlns:a16="http://schemas.microsoft.com/office/drawing/2014/main" id="{D53B98A0-0705-4872-9005-4DEFA11065E9}"/>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02</a:t>
            </a:r>
          </a:p>
        </p:txBody>
      </p:sp>
    </p:spTree>
    <p:extLst>
      <p:ext uri="{BB962C8B-B14F-4D97-AF65-F5344CB8AC3E}">
        <p14:creationId xmlns:p14="http://schemas.microsoft.com/office/powerpoint/2010/main" val="1875314996"/>
      </p:ext>
    </p:extLst>
  </p:cSld>
</p:sld>
</file>

<file path=ppt/slides/slide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EFCBA0B-CE9B-4916-B59B-E5E8E73D74DA}"/>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Первый проект в лаунчере</a:t>
            </a:r>
          </a:p>
        </p:txBody>
      </p:sp>
      <p:sp>
        <p:nvSpPr>
          <p:cNvPr id="2" name="">
            <a:extLst xmlns:a="http://schemas.openxmlformats.org/drawingml/2006/main">
              <a:ext uri="{FF2B5EF4-FFF2-40B4-BE49-F238E27FC236}">
                <a16:creationId xmlns:a16="http://schemas.microsoft.com/office/drawing/2014/main" id="{603303B1-6CDF-4B8A-8674-DDCCD574E144}"/>
              </a:ext>
            </a:extLst>
          </p:cNvPr>
          <p:cNvSpPr>
            <a:spLocks xmlns:a="http://schemas.openxmlformats.org/drawingml/2006/main" noGrp="1"/>
          </p:cNvSpPr>
          <p:nvPr/>
        </p:nvSpPr>
        <p:spPr>
          <a:xfrm xmlns:a="http://schemas.openxmlformats.org/drawingml/2006/main">
            <a:off x="609600" y="1666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1. Создать проект</a:t>
            </a:r>
          </a:p>
        </p:txBody>
      </p:sp>
      <p:sp>
        <p:nvSpPr>
          <p:cNvPr id="3" name="">
            <a:extLst xmlns:a="http://schemas.openxmlformats.org/drawingml/2006/main">
              <a:ext uri="{FF2B5EF4-FFF2-40B4-BE49-F238E27FC236}">
                <a16:creationId xmlns:a16="http://schemas.microsoft.com/office/drawing/2014/main" id="{49F83251-6B10-4214-BA95-5C5942FB1C8A}"/>
              </a:ext>
            </a:extLst>
          </p:cNvPr>
          <p:cNvSpPr>
            <a:spLocks xmlns:a="http://schemas.openxmlformats.org/drawingml/2006/main" noGrp="1"/>
          </p:cNvSpPr>
          <p:nvPr/>
        </p:nvSpPr>
        <p:spPr>
          <a:xfrm xmlns:a="http://schemas.openxmlformats.org/drawingml/2006/main">
            <a:off x="4191000" y="1695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Выберите папку и название. Для первого знакомства оставьте проект без C++.</a:t>
            </a:r>
          </a:p>
        </p:txBody>
      </p:sp>
      <p:sp>
        <p:nvSpPr>
          <p:cNvPr id="4" name="">
            <a:extLst xmlns:a="http://schemas.openxmlformats.org/drawingml/2006/main">
              <a:ext uri="{FF2B5EF4-FFF2-40B4-BE49-F238E27FC236}">
                <a16:creationId xmlns:a16="http://schemas.microsoft.com/office/drawing/2014/main" id="{3A88ADDC-B8AA-4548-9F89-995BFBB1EC75}"/>
              </a:ext>
            </a:extLst>
          </p:cNvPr>
          <p:cNvSpPr>
            <a:spLocks xmlns:a="http://schemas.openxmlformats.org/drawingml/2006/main" noGrp="1"/>
          </p:cNvSpPr>
          <p:nvPr/>
        </p:nvSpPr>
        <p:spPr>
          <a:xfrm xmlns:a="http://schemas.openxmlformats.org/drawingml/2006/main">
            <a:off x="609600" y="30003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2. Редактировать</a:t>
            </a:r>
          </a:p>
        </p:txBody>
      </p:sp>
      <p:sp>
        <p:nvSpPr>
          <p:cNvPr id="5" name="">
            <a:extLst xmlns:a="http://schemas.openxmlformats.org/drawingml/2006/main">
              <a:ext uri="{FF2B5EF4-FFF2-40B4-BE49-F238E27FC236}">
                <a16:creationId xmlns:a16="http://schemas.microsoft.com/office/drawing/2014/main" id="{3DFD0D00-1C49-4D1C-8E42-CB845CFEBE18}"/>
              </a:ext>
            </a:extLst>
          </p:cNvPr>
          <p:cNvSpPr>
            <a:spLocks xmlns:a="http://schemas.openxmlformats.org/drawingml/2006/main" noGrp="1"/>
          </p:cNvSpPr>
          <p:nvPr/>
        </p:nvSpPr>
        <p:spPr>
          <a:xfrm xmlns:a="http://schemas.openxmlformats.org/drawingml/2006/main">
            <a:off x="4191000" y="30289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Выберите созданный проект в списке и откройте редактор.</a:t>
            </a:r>
          </a:p>
        </p:txBody>
      </p:sp>
      <p:sp>
        <p:nvSpPr>
          <p:cNvPr id="6" name="">
            <a:extLst xmlns:a="http://schemas.openxmlformats.org/drawingml/2006/main">
              <a:ext uri="{FF2B5EF4-FFF2-40B4-BE49-F238E27FC236}">
                <a16:creationId xmlns:a16="http://schemas.microsoft.com/office/drawing/2014/main" id="{2E24E503-B331-43B5-AB77-35200A117344}"/>
              </a:ext>
            </a:extLst>
          </p:cNvPr>
          <p:cNvSpPr>
            <a:spLocks xmlns:a="http://schemas.openxmlformats.org/drawingml/2006/main" noGrp="1"/>
          </p:cNvSpPr>
          <p:nvPr/>
        </p:nvSpPr>
        <p:spPr>
          <a:xfrm xmlns:a="http://schemas.openxmlformats.org/drawingml/2006/main">
            <a:off x="609600" y="4333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3. Продолжить работу</a:t>
            </a:r>
          </a:p>
        </p:txBody>
      </p:sp>
      <p:sp>
        <p:nvSpPr>
          <p:cNvPr id="7" name="">
            <a:extLst xmlns:a="http://schemas.openxmlformats.org/drawingml/2006/main">
              <a:ext uri="{FF2B5EF4-FFF2-40B4-BE49-F238E27FC236}">
                <a16:creationId xmlns:a16="http://schemas.microsoft.com/office/drawing/2014/main" id="{1D40F33B-231B-4C9C-82E7-A04040E25711}"/>
              </a:ext>
            </a:extLst>
          </p:cNvPr>
          <p:cNvSpPr>
            <a:spLocks xmlns:a="http://schemas.openxmlformats.org/drawingml/2006/main" noGrp="1"/>
          </p:cNvSpPr>
          <p:nvPr/>
        </p:nvSpPr>
        <p:spPr>
          <a:xfrm xmlns:a="http://schemas.openxmlformats.org/drawingml/2006/main">
            <a:off x="4191000" y="4362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Кнопка «Открыть проект…» добавляет существующий Project.json. «Играть» запускает игру отдельно.</a:t>
            </a:r>
          </a:p>
        </p:txBody>
      </p:sp>
      <p:sp>
        <p:nvSpPr>
          <p:cNvPr id="8" name="">
            <a:extLst xmlns:a="http://schemas.openxmlformats.org/drawingml/2006/main">
              <a:ext uri="{FF2B5EF4-FFF2-40B4-BE49-F238E27FC236}">
                <a16:creationId xmlns:a16="http://schemas.microsoft.com/office/drawing/2014/main" id="{3835A981-1713-46F6-881D-3C2A4D8DB9FE}"/>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Кириллица и пробелы допустимы в названии проекта. Для имени C++ класса действуют другие правила.</a:t>
            </a:r>
          </a:p>
        </p:txBody>
      </p:sp>
      <p:sp>
        <p:nvSpPr>
          <p:cNvPr id="9" name="">
            <a:extLst xmlns:a="http://schemas.openxmlformats.org/drawingml/2006/main">
              <a:ext uri="{FF2B5EF4-FFF2-40B4-BE49-F238E27FC236}">
                <a16:creationId xmlns:a16="http://schemas.microsoft.com/office/drawing/2014/main" id="{DEDBFD04-DE76-4F96-99F9-EF97C40096FD}"/>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03</a:t>
            </a:r>
          </a:p>
        </p:txBody>
      </p:sp>
    </p:spTree>
    <p:extLst>
      <p:ext uri="{BB962C8B-B14F-4D97-AF65-F5344CB8AC3E}">
        <p14:creationId xmlns:p14="http://schemas.microsoft.com/office/powerpoint/2010/main" val="482920434"/>
      </p:ext>
    </p:extLst>
  </p:cSld>
</p:sld>
</file>

<file path=ppt/slides/slide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0CF436A8-9569-4D28-B6C4-DC0E14326E5A}"/>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Окно редактора</a:t>
            </a:r>
          </a:p>
        </p:txBody>
      </p:sp>
      <p:pic>
        <p:nvPicPr>
          <p:cNvPr id="2" name="">
            <a:extLst xmlns:a="http://schemas.openxmlformats.org/drawingml/2006/main">
              <a:ext uri="{FF2B5EF4-FFF2-40B4-BE49-F238E27FC236}">
                <a16:creationId xmlns:a16="http://schemas.microsoft.com/office/drawing/2014/main" id="{B166C363-D26C-46C0-BE16-E03DCF5C59E3}"/>
              </a:ext>
            </a:extLst>
          </p:cNvPr>
          <p:cNvPicPr>
            <a:picLocks xmlns:a="http://schemas.openxmlformats.org/drawingml/2006/main" noChangeAspect="1"/>
          </p:cNvPicPr>
          <p:nvPr/>
        </p:nvPicPr>
        <p:blipFill>
          <a:blip xmlns:r="http://schemas.openxmlformats.org/officeDocument/2006/relationships" xmlns:a="http://schemas.openxmlformats.org/drawingml/2006/main" r:embed="R1dc442513ccb419f"/>
          <a:stretch xmlns:a="http://schemas.openxmlformats.org/drawingml/2006/main"/>
        </p:blipFill>
        <p:spPr>
          <a:xfrm xmlns:a="http://schemas.openxmlformats.org/drawingml/2006/main">
            <a:off x="902557" y="1504950"/>
            <a:ext cx="5510086" cy="42100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D2D0E8A2-05C5-431B-968A-D81FDF2ED932}"/>
              </a:ext>
            </a:extLst>
          </p:cNvPr>
          <p:cNvSpPr>
            <a:spLocks xmlns:a="http://schemas.openxmlformats.org/drawingml/2006/main" noGrp="1"/>
          </p:cNvSpPr>
          <p:nvPr/>
        </p:nvSpPr>
        <p:spPr>
          <a:xfrm xmlns:a="http://schemas.openxmlformats.org/drawingml/2006/main">
            <a:off x="7200900" y="1666875"/>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78E"/>
                </a:solidFill>
                <a:latin typeface="Arial"/>
                <a:ea typeface="Arial"/>
                <a:cs typeface="Arial"/>
              </a:defRPr>
            </a:defPPr>
            <a:lvl1pPr>
              <a:defRPr sz="2175" b="1">
                <a:solidFill>
                  <a:srgbClr val="08778E"/>
                </a:solidFill>
                <a:latin typeface="Arial"/>
                <a:ea typeface="Arial"/>
                <a:cs typeface="Arial"/>
              </a:defRPr>
            </a:lvl1pPr>
            <a:lvl2pPr>
              <a:defRPr sz="2175" b="1">
                <a:solidFill>
                  <a:srgbClr val="08778E"/>
                </a:solidFill>
                <a:latin typeface="Arial"/>
                <a:ea typeface="Arial"/>
                <a:cs typeface="Arial"/>
              </a:defRPr>
            </a:lvl2pPr>
            <a:lvl3pPr>
              <a:defRPr sz="2175" b="1">
                <a:solidFill>
                  <a:srgbClr val="08778E"/>
                </a:solidFill>
                <a:latin typeface="Arial"/>
                <a:ea typeface="Arial"/>
                <a:cs typeface="Arial"/>
              </a:defRPr>
            </a:lvl3pPr>
            <a:lvl4pPr>
              <a:defRPr sz="2175" b="1">
                <a:solidFill>
                  <a:srgbClr val="08778E"/>
                </a:solidFill>
                <a:latin typeface="Arial"/>
                <a:ea typeface="Arial"/>
                <a:cs typeface="Arial"/>
              </a:defRPr>
            </a:lvl4pPr>
            <a:lvl5pPr>
              <a:defRPr sz="2175" b="1">
                <a:solidFill>
                  <a:srgbClr val="08778E"/>
                </a:solidFill>
                <a:latin typeface="Arial"/>
                <a:ea typeface="Arial"/>
                <a:cs typeface="Arial"/>
              </a:defRPr>
            </a:lvl5pPr>
            <a:lvl6pPr>
              <a:defRPr sz="2175" b="1">
                <a:solidFill>
                  <a:srgbClr val="08778E"/>
                </a:solidFill>
                <a:latin typeface="Arial"/>
                <a:ea typeface="Arial"/>
                <a:cs typeface="Arial"/>
              </a:defRPr>
            </a:lvl6pPr>
            <a:lvl7pPr>
              <a:defRPr sz="2175" b="1">
                <a:solidFill>
                  <a:srgbClr val="08778E"/>
                </a:solidFill>
                <a:latin typeface="Arial"/>
                <a:ea typeface="Arial"/>
                <a:cs typeface="Arial"/>
              </a:defRPr>
            </a:lvl7pPr>
            <a:lvl8pPr>
              <a:defRPr sz="2175" b="1">
                <a:solidFill>
                  <a:srgbClr val="08778E"/>
                </a:solidFill>
                <a:latin typeface="Arial"/>
                <a:ea typeface="Arial"/>
                <a:cs typeface="Arial"/>
              </a:defRPr>
            </a:lvl8pPr>
            <a:lvl9pPr>
              <a:defRPr sz="2175" b="1">
                <a:solidFill>
                  <a:srgbClr val="08778E"/>
                </a:solidFill>
                <a:latin typeface="Arial"/>
                <a:ea typeface="Arial"/>
                <a:cs typeface="Arial"/>
              </a:defRPr>
            </a:lvl9pPr>
          </a:lstStyle>
          <a:p xmlns:a="http://schemas.openxmlformats.org/drawingml/2006/main">
            <a:pPr>
              <a:defRPr sz="2175" b="1">
                <a:solidFill>
                  <a:srgbClr val="08778E"/>
                </a:solidFill>
                <a:latin typeface="Arial"/>
                <a:ea typeface="Arial"/>
                <a:cs typeface="Arial"/>
              </a:defRPr>
            </a:pPr>
            <a:r>
              <a:rPr sz="2175" b="1">
                <a:solidFill>
                  <a:srgbClr val="08778E"/>
                </a:solidFill>
                <a:latin typeface="Arial"/>
                <a:ea typeface="Arial"/>
                <a:cs typeface="Arial"/>
              </a:rPr>
              <a:t>Слева</a:t>
            </a:r>
          </a:p>
        </p:txBody>
      </p:sp>
      <p:sp>
        <p:nvSpPr>
          <p:cNvPr id="4" name="">
            <a:extLst xmlns:a="http://schemas.openxmlformats.org/drawingml/2006/main">
              <a:ext uri="{FF2B5EF4-FFF2-40B4-BE49-F238E27FC236}">
                <a16:creationId xmlns:a16="http://schemas.microsoft.com/office/drawing/2014/main" id="{C456ED80-32E3-427A-B3EB-7026C4C43D04}"/>
              </a:ext>
            </a:extLst>
          </p:cNvPr>
          <p:cNvSpPr>
            <a:spLocks xmlns:a="http://schemas.openxmlformats.org/drawingml/2006/main" noGrp="1"/>
          </p:cNvSpPr>
          <p:nvPr/>
        </p:nvSpPr>
        <p:spPr>
          <a:xfrm xmlns:a="http://schemas.openxmlformats.org/drawingml/2006/main">
            <a:off x="7200900" y="2114550"/>
            <a:ext cx="4381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43646"/>
                </a:solidFill>
                <a:latin typeface="Arial"/>
                <a:ea typeface="Arial"/>
                <a:cs typeface="Arial"/>
              </a:defRPr>
            </a:defPPr>
            <a:lvl1pPr>
              <a:defRPr sz="1875" b="0">
                <a:solidFill>
                  <a:srgbClr val="243646"/>
                </a:solidFill>
                <a:latin typeface="Arial"/>
                <a:ea typeface="Arial"/>
                <a:cs typeface="Arial"/>
              </a:defRPr>
            </a:lvl1pPr>
            <a:lvl2pPr>
              <a:defRPr sz="1875" b="0">
                <a:solidFill>
                  <a:srgbClr val="243646"/>
                </a:solidFill>
                <a:latin typeface="Arial"/>
                <a:ea typeface="Arial"/>
                <a:cs typeface="Arial"/>
              </a:defRPr>
            </a:lvl2pPr>
            <a:lvl3pPr>
              <a:defRPr sz="1875" b="0">
                <a:solidFill>
                  <a:srgbClr val="243646"/>
                </a:solidFill>
                <a:latin typeface="Arial"/>
                <a:ea typeface="Arial"/>
                <a:cs typeface="Arial"/>
              </a:defRPr>
            </a:lvl3pPr>
            <a:lvl4pPr>
              <a:defRPr sz="1875" b="0">
                <a:solidFill>
                  <a:srgbClr val="243646"/>
                </a:solidFill>
                <a:latin typeface="Arial"/>
                <a:ea typeface="Arial"/>
                <a:cs typeface="Arial"/>
              </a:defRPr>
            </a:lvl4pPr>
            <a:lvl5pPr>
              <a:defRPr sz="1875" b="0">
                <a:solidFill>
                  <a:srgbClr val="243646"/>
                </a:solidFill>
                <a:latin typeface="Arial"/>
                <a:ea typeface="Arial"/>
                <a:cs typeface="Arial"/>
              </a:defRPr>
            </a:lvl5pPr>
            <a:lvl6pPr>
              <a:defRPr sz="1875" b="0">
                <a:solidFill>
                  <a:srgbClr val="243646"/>
                </a:solidFill>
                <a:latin typeface="Arial"/>
                <a:ea typeface="Arial"/>
                <a:cs typeface="Arial"/>
              </a:defRPr>
            </a:lvl6pPr>
            <a:lvl7pPr>
              <a:defRPr sz="1875" b="0">
                <a:solidFill>
                  <a:srgbClr val="243646"/>
                </a:solidFill>
                <a:latin typeface="Arial"/>
                <a:ea typeface="Arial"/>
                <a:cs typeface="Arial"/>
              </a:defRPr>
            </a:lvl7pPr>
            <a:lvl8pPr>
              <a:defRPr sz="1875" b="0">
                <a:solidFill>
                  <a:srgbClr val="243646"/>
                </a:solidFill>
                <a:latin typeface="Arial"/>
                <a:ea typeface="Arial"/>
                <a:cs typeface="Arial"/>
              </a:defRPr>
            </a:lvl8pPr>
            <a:lvl9pPr>
              <a:defRPr sz="1875" b="0">
                <a:solidFill>
                  <a:srgbClr val="243646"/>
                </a:solidFill>
                <a:latin typeface="Arial"/>
                <a:ea typeface="Arial"/>
                <a:cs typeface="Arial"/>
              </a:defRPr>
            </a:lvl9pPr>
          </a:lstStyle>
          <a:p xmlns:a="http://schemas.openxmlformats.org/drawingml/2006/main">
            <a:pPr>
              <a:defRPr sz="1875" b="0">
                <a:solidFill>
                  <a:srgbClr val="243646"/>
                </a:solidFill>
                <a:latin typeface="Arial"/>
                <a:ea typeface="Arial"/>
                <a:cs typeface="Arial"/>
              </a:defRPr>
            </a:pPr>
            <a:r>
              <a:rPr sz="1875" b="0">
                <a:solidFill>
                  <a:srgbClr val="243646"/>
                </a:solidFill>
                <a:latin typeface="Arial"/>
                <a:ea typeface="Arial"/>
                <a:cs typeface="Arial"/>
              </a:rPr>
              <a:t>Категория, тип объекта, точка добавления и иерархия сцены.</a:t>
            </a:r>
          </a:p>
        </p:txBody>
      </p:sp>
      <p:sp>
        <p:nvSpPr>
          <p:cNvPr id="5" name="">
            <a:extLst xmlns:a="http://schemas.openxmlformats.org/drawingml/2006/main">
              <a:ext uri="{FF2B5EF4-FFF2-40B4-BE49-F238E27FC236}">
                <a16:creationId xmlns:a16="http://schemas.microsoft.com/office/drawing/2014/main" id="{56D61AAA-B5A4-43E2-A7F8-7652E1174DFE}"/>
              </a:ext>
            </a:extLst>
          </p:cNvPr>
          <p:cNvSpPr>
            <a:spLocks xmlns:a="http://schemas.openxmlformats.org/drawingml/2006/main" noGrp="1"/>
          </p:cNvSpPr>
          <p:nvPr/>
        </p:nvSpPr>
        <p:spPr>
          <a:xfrm xmlns:a="http://schemas.openxmlformats.org/drawingml/2006/main">
            <a:off x="7200900" y="30289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78E"/>
                </a:solidFill>
                <a:latin typeface="Arial"/>
                <a:ea typeface="Arial"/>
                <a:cs typeface="Arial"/>
              </a:defRPr>
            </a:defPPr>
            <a:lvl1pPr>
              <a:defRPr sz="2175" b="1">
                <a:solidFill>
                  <a:srgbClr val="08778E"/>
                </a:solidFill>
                <a:latin typeface="Arial"/>
                <a:ea typeface="Arial"/>
                <a:cs typeface="Arial"/>
              </a:defRPr>
            </a:lvl1pPr>
            <a:lvl2pPr>
              <a:defRPr sz="2175" b="1">
                <a:solidFill>
                  <a:srgbClr val="08778E"/>
                </a:solidFill>
                <a:latin typeface="Arial"/>
                <a:ea typeface="Arial"/>
                <a:cs typeface="Arial"/>
              </a:defRPr>
            </a:lvl2pPr>
            <a:lvl3pPr>
              <a:defRPr sz="2175" b="1">
                <a:solidFill>
                  <a:srgbClr val="08778E"/>
                </a:solidFill>
                <a:latin typeface="Arial"/>
                <a:ea typeface="Arial"/>
                <a:cs typeface="Arial"/>
              </a:defRPr>
            </a:lvl3pPr>
            <a:lvl4pPr>
              <a:defRPr sz="2175" b="1">
                <a:solidFill>
                  <a:srgbClr val="08778E"/>
                </a:solidFill>
                <a:latin typeface="Arial"/>
                <a:ea typeface="Arial"/>
                <a:cs typeface="Arial"/>
              </a:defRPr>
            </a:lvl4pPr>
            <a:lvl5pPr>
              <a:defRPr sz="2175" b="1">
                <a:solidFill>
                  <a:srgbClr val="08778E"/>
                </a:solidFill>
                <a:latin typeface="Arial"/>
                <a:ea typeface="Arial"/>
                <a:cs typeface="Arial"/>
              </a:defRPr>
            </a:lvl5pPr>
            <a:lvl6pPr>
              <a:defRPr sz="2175" b="1">
                <a:solidFill>
                  <a:srgbClr val="08778E"/>
                </a:solidFill>
                <a:latin typeface="Arial"/>
                <a:ea typeface="Arial"/>
                <a:cs typeface="Arial"/>
              </a:defRPr>
            </a:lvl6pPr>
            <a:lvl7pPr>
              <a:defRPr sz="2175" b="1">
                <a:solidFill>
                  <a:srgbClr val="08778E"/>
                </a:solidFill>
                <a:latin typeface="Arial"/>
                <a:ea typeface="Arial"/>
                <a:cs typeface="Arial"/>
              </a:defRPr>
            </a:lvl7pPr>
            <a:lvl8pPr>
              <a:defRPr sz="2175" b="1">
                <a:solidFill>
                  <a:srgbClr val="08778E"/>
                </a:solidFill>
                <a:latin typeface="Arial"/>
                <a:ea typeface="Arial"/>
                <a:cs typeface="Arial"/>
              </a:defRPr>
            </a:lvl8pPr>
            <a:lvl9pPr>
              <a:defRPr sz="2175" b="1">
                <a:solidFill>
                  <a:srgbClr val="08778E"/>
                </a:solidFill>
                <a:latin typeface="Arial"/>
                <a:ea typeface="Arial"/>
                <a:cs typeface="Arial"/>
              </a:defRPr>
            </a:lvl9pPr>
          </a:lstStyle>
          <a:p xmlns:a="http://schemas.openxmlformats.org/drawingml/2006/main">
            <a:pPr>
              <a:defRPr sz="2175" b="1">
                <a:solidFill>
                  <a:srgbClr val="08778E"/>
                </a:solidFill>
                <a:latin typeface="Arial"/>
                <a:ea typeface="Arial"/>
                <a:cs typeface="Arial"/>
              </a:defRPr>
            </a:pPr>
            <a:r>
              <a:rPr sz="2175" b="1">
                <a:solidFill>
                  <a:srgbClr val="08778E"/>
                </a:solidFill>
                <a:latin typeface="Arial"/>
                <a:ea typeface="Arial"/>
                <a:cs typeface="Arial"/>
              </a:rPr>
              <a:t>Справа</a:t>
            </a:r>
          </a:p>
        </p:txBody>
      </p:sp>
      <p:sp>
        <p:nvSpPr>
          <p:cNvPr id="6" name="">
            <a:extLst xmlns:a="http://schemas.openxmlformats.org/drawingml/2006/main">
              <a:ext uri="{FF2B5EF4-FFF2-40B4-BE49-F238E27FC236}">
                <a16:creationId xmlns:a16="http://schemas.microsoft.com/office/drawing/2014/main" id="{2578BBB5-6FF8-47BF-9308-9A16E5AB8D58}"/>
              </a:ext>
            </a:extLst>
          </p:cNvPr>
          <p:cNvSpPr>
            <a:spLocks xmlns:a="http://schemas.openxmlformats.org/drawingml/2006/main" noGrp="1"/>
          </p:cNvSpPr>
          <p:nvPr/>
        </p:nvSpPr>
        <p:spPr>
          <a:xfrm xmlns:a="http://schemas.openxmlformats.org/drawingml/2006/main">
            <a:off x="7200900" y="3476625"/>
            <a:ext cx="4381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43646"/>
                </a:solidFill>
                <a:latin typeface="Arial"/>
                <a:ea typeface="Arial"/>
                <a:cs typeface="Arial"/>
              </a:defRPr>
            </a:defPPr>
            <a:lvl1pPr>
              <a:defRPr sz="1875" b="0">
                <a:solidFill>
                  <a:srgbClr val="243646"/>
                </a:solidFill>
                <a:latin typeface="Arial"/>
                <a:ea typeface="Arial"/>
                <a:cs typeface="Arial"/>
              </a:defRPr>
            </a:lvl1pPr>
            <a:lvl2pPr>
              <a:defRPr sz="1875" b="0">
                <a:solidFill>
                  <a:srgbClr val="243646"/>
                </a:solidFill>
                <a:latin typeface="Arial"/>
                <a:ea typeface="Arial"/>
                <a:cs typeface="Arial"/>
              </a:defRPr>
            </a:lvl2pPr>
            <a:lvl3pPr>
              <a:defRPr sz="1875" b="0">
                <a:solidFill>
                  <a:srgbClr val="243646"/>
                </a:solidFill>
                <a:latin typeface="Arial"/>
                <a:ea typeface="Arial"/>
                <a:cs typeface="Arial"/>
              </a:defRPr>
            </a:lvl3pPr>
            <a:lvl4pPr>
              <a:defRPr sz="1875" b="0">
                <a:solidFill>
                  <a:srgbClr val="243646"/>
                </a:solidFill>
                <a:latin typeface="Arial"/>
                <a:ea typeface="Arial"/>
                <a:cs typeface="Arial"/>
              </a:defRPr>
            </a:lvl4pPr>
            <a:lvl5pPr>
              <a:defRPr sz="1875" b="0">
                <a:solidFill>
                  <a:srgbClr val="243646"/>
                </a:solidFill>
                <a:latin typeface="Arial"/>
                <a:ea typeface="Arial"/>
                <a:cs typeface="Arial"/>
              </a:defRPr>
            </a:lvl5pPr>
            <a:lvl6pPr>
              <a:defRPr sz="1875" b="0">
                <a:solidFill>
                  <a:srgbClr val="243646"/>
                </a:solidFill>
                <a:latin typeface="Arial"/>
                <a:ea typeface="Arial"/>
                <a:cs typeface="Arial"/>
              </a:defRPr>
            </a:lvl6pPr>
            <a:lvl7pPr>
              <a:defRPr sz="1875" b="0">
                <a:solidFill>
                  <a:srgbClr val="243646"/>
                </a:solidFill>
                <a:latin typeface="Arial"/>
                <a:ea typeface="Arial"/>
                <a:cs typeface="Arial"/>
              </a:defRPr>
            </a:lvl7pPr>
            <a:lvl8pPr>
              <a:defRPr sz="1875" b="0">
                <a:solidFill>
                  <a:srgbClr val="243646"/>
                </a:solidFill>
                <a:latin typeface="Arial"/>
                <a:ea typeface="Arial"/>
                <a:cs typeface="Arial"/>
              </a:defRPr>
            </a:lvl8pPr>
            <a:lvl9pPr>
              <a:defRPr sz="1875" b="0">
                <a:solidFill>
                  <a:srgbClr val="243646"/>
                </a:solidFill>
                <a:latin typeface="Arial"/>
                <a:ea typeface="Arial"/>
                <a:cs typeface="Arial"/>
              </a:defRPr>
            </a:lvl9pPr>
          </a:lstStyle>
          <a:p xmlns:a="http://schemas.openxmlformats.org/drawingml/2006/main">
            <a:pPr>
              <a:defRPr sz="1875" b="0">
                <a:solidFill>
                  <a:srgbClr val="243646"/>
                </a:solidFill>
                <a:latin typeface="Arial"/>
                <a:ea typeface="Arial"/>
                <a:cs typeface="Arial"/>
              </a:defRPr>
            </a:pPr>
            <a:r>
              <a:rPr sz="1875" b="0">
                <a:solidFill>
                  <a:srgbClr val="243646"/>
                </a:solidFill>
                <a:latin typeface="Arial"/>
                <a:ea typeface="Arial"/>
                <a:cs typeface="Arial"/>
              </a:rPr>
              <a:t>Свойства выбранного объекта: трансформация, цвет и параметры типа.</a:t>
            </a:r>
          </a:p>
        </p:txBody>
      </p:sp>
      <p:sp>
        <p:nvSpPr>
          <p:cNvPr id="7" name="">
            <a:extLst xmlns:a="http://schemas.openxmlformats.org/drawingml/2006/main">
              <a:ext uri="{FF2B5EF4-FFF2-40B4-BE49-F238E27FC236}">
                <a16:creationId xmlns:a16="http://schemas.microsoft.com/office/drawing/2014/main" id="{E5AAB67F-6EF7-4DD5-A8C8-7E15CCAF08EF}"/>
              </a:ext>
            </a:extLst>
          </p:cNvPr>
          <p:cNvSpPr>
            <a:spLocks xmlns:a="http://schemas.openxmlformats.org/drawingml/2006/main" noGrp="1"/>
          </p:cNvSpPr>
          <p:nvPr/>
        </p:nvSpPr>
        <p:spPr>
          <a:xfrm xmlns:a="http://schemas.openxmlformats.org/drawingml/2006/main">
            <a:off x="7200900" y="4391025"/>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08778E"/>
                </a:solidFill>
                <a:latin typeface="Arial"/>
                <a:ea typeface="Arial"/>
                <a:cs typeface="Arial"/>
              </a:defRPr>
            </a:defPPr>
            <a:lvl1pPr>
              <a:defRPr sz="2175" b="1">
                <a:solidFill>
                  <a:srgbClr val="08778E"/>
                </a:solidFill>
                <a:latin typeface="Arial"/>
                <a:ea typeface="Arial"/>
                <a:cs typeface="Arial"/>
              </a:defRPr>
            </a:lvl1pPr>
            <a:lvl2pPr>
              <a:defRPr sz="2175" b="1">
                <a:solidFill>
                  <a:srgbClr val="08778E"/>
                </a:solidFill>
                <a:latin typeface="Arial"/>
                <a:ea typeface="Arial"/>
                <a:cs typeface="Arial"/>
              </a:defRPr>
            </a:lvl2pPr>
            <a:lvl3pPr>
              <a:defRPr sz="2175" b="1">
                <a:solidFill>
                  <a:srgbClr val="08778E"/>
                </a:solidFill>
                <a:latin typeface="Arial"/>
                <a:ea typeface="Arial"/>
                <a:cs typeface="Arial"/>
              </a:defRPr>
            </a:lvl3pPr>
            <a:lvl4pPr>
              <a:defRPr sz="2175" b="1">
                <a:solidFill>
                  <a:srgbClr val="08778E"/>
                </a:solidFill>
                <a:latin typeface="Arial"/>
                <a:ea typeface="Arial"/>
                <a:cs typeface="Arial"/>
              </a:defRPr>
            </a:lvl4pPr>
            <a:lvl5pPr>
              <a:defRPr sz="2175" b="1">
                <a:solidFill>
                  <a:srgbClr val="08778E"/>
                </a:solidFill>
                <a:latin typeface="Arial"/>
                <a:ea typeface="Arial"/>
                <a:cs typeface="Arial"/>
              </a:defRPr>
            </a:lvl5pPr>
            <a:lvl6pPr>
              <a:defRPr sz="2175" b="1">
                <a:solidFill>
                  <a:srgbClr val="08778E"/>
                </a:solidFill>
                <a:latin typeface="Arial"/>
                <a:ea typeface="Arial"/>
                <a:cs typeface="Arial"/>
              </a:defRPr>
            </a:lvl6pPr>
            <a:lvl7pPr>
              <a:defRPr sz="2175" b="1">
                <a:solidFill>
                  <a:srgbClr val="08778E"/>
                </a:solidFill>
                <a:latin typeface="Arial"/>
                <a:ea typeface="Arial"/>
                <a:cs typeface="Arial"/>
              </a:defRPr>
            </a:lvl7pPr>
            <a:lvl8pPr>
              <a:defRPr sz="2175" b="1">
                <a:solidFill>
                  <a:srgbClr val="08778E"/>
                </a:solidFill>
                <a:latin typeface="Arial"/>
                <a:ea typeface="Arial"/>
                <a:cs typeface="Arial"/>
              </a:defRPr>
            </a:lvl8pPr>
            <a:lvl9pPr>
              <a:defRPr sz="2175" b="1">
                <a:solidFill>
                  <a:srgbClr val="08778E"/>
                </a:solidFill>
                <a:latin typeface="Arial"/>
                <a:ea typeface="Arial"/>
                <a:cs typeface="Arial"/>
              </a:defRPr>
            </a:lvl9pPr>
          </a:lstStyle>
          <a:p xmlns:a="http://schemas.openxmlformats.org/drawingml/2006/main">
            <a:pPr>
              <a:defRPr sz="2175" b="1">
                <a:solidFill>
                  <a:srgbClr val="08778E"/>
                </a:solidFill>
                <a:latin typeface="Arial"/>
                <a:ea typeface="Arial"/>
                <a:cs typeface="Arial"/>
              </a:defRPr>
            </a:pPr>
            <a:r>
              <a:rPr sz="2175" b="1">
                <a:solidFill>
                  <a:srgbClr val="08778E"/>
                </a:solidFill>
                <a:latin typeface="Arial"/>
                <a:ea typeface="Arial"/>
                <a:cs typeface="Arial"/>
              </a:rPr>
              <a:t>Сверху и снизу</a:t>
            </a:r>
          </a:p>
        </p:txBody>
      </p:sp>
      <p:sp>
        <p:nvSpPr>
          <p:cNvPr id="8" name="">
            <a:extLst xmlns:a="http://schemas.openxmlformats.org/drawingml/2006/main">
              <a:ext uri="{FF2B5EF4-FFF2-40B4-BE49-F238E27FC236}">
                <a16:creationId xmlns:a16="http://schemas.microsoft.com/office/drawing/2014/main" id="{2FF7C7D3-D72E-4ECE-A5CE-C315569FE8C7}"/>
              </a:ext>
            </a:extLst>
          </p:cNvPr>
          <p:cNvSpPr>
            <a:spLocks xmlns:a="http://schemas.openxmlformats.org/drawingml/2006/main" noGrp="1"/>
          </p:cNvSpPr>
          <p:nvPr/>
        </p:nvSpPr>
        <p:spPr>
          <a:xfrm xmlns:a="http://schemas.openxmlformats.org/drawingml/2006/main">
            <a:off x="7200900" y="4838700"/>
            <a:ext cx="4381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243646"/>
                </a:solidFill>
                <a:latin typeface="Arial"/>
                <a:ea typeface="Arial"/>
                <a:cs typeface="Arial"/>
              </a:defRPr>
            </a:defPPr>
            <a:lvl1pPr>
              <a:defRPr sz="1875" b="0">
                <a:solidFill>
                  <a:srgbClr val="243646"/>
                </a:solidFill>
                <a:latin typeface="Arial"/>
                <a:ea typeface="Arial"/>
                <a:cs typeface="Arial"/>
              </a:defRPr>
            </a:lvl1pPr>
            <a:lvl2pPr>
              <a:defRPr sz="1875" b="0">
                <a:solidFill>
                  <a:srgbClr val="243646"/>
                </a:solidFill>
                <a:latin typeface="Arial"/>
                <a:ea typeface="Arial"/>
                <a:cs typeface="Arial"/>
              </a:defRPr>
            </a:lvl2pPr>
            <a:lvl3pPr>
              <a:defRPr sz="1875" b="0">
                <a:solidFill>
                  <a:srgbClr val="243646"/>
                </a:solidFill>
                <a:latin typeface="Arial"/>
                <a:ea typeface="Arial"/>
                <a:cs typeface="Arial"/>
              </a:defRPr>
            </a:lvl3pPr>
            <a:lvl4pPr>
              <a:defRPr sz="1875" b="0">
                <a:solidFill>
                  <a:srgbClr val="243646"/>
                </a:solidFill>
                <a:latin typeface="Arial"/>
                <a:ea typeface="Arial"/>
                <a:cs typeface="Arial"/>
              </a:defRPr>
            </a:lvl4pPr>
            <a:lvl5pPr>
              <a:defRPr sz="1875" b="0">
                <a:solidFill>
                  <a:srgbClr val="243646"/>
                </a:solidFill>
                <a:latin typeface="Arial"/>
                <a:ea typeface="Arial"/>
                <a:cs typeface="Arial"/>
              </a:defRPr>
            </a:lvl5pPr>
            <a:lvl6pPr>
              <a:defRPr sz="1875" b="0">
                <a:solidFill>
                  <a:srgbClr val="243646"/>
                </a:solidFill>
                <a:latin typeface="Arial"/>
                <a:ea typeface="Arial"/>
                <a:cs typeface="Arial"/>
              </a:defRPr>
            </a:lvl6pPr>
            <a:lvl7pPr>
              <a:defRPr sz="1875" b="0">
                <a:solidFill>
                  <a:srgbClr val="243646"/>
                </a:solidFill>
                <a:latin typeface="Arial"/>
                <a:ea typeface="Arial"/>
                <a:cs typeface="Arial"/>
              </a:defRPr>
            </a:lvl7pPr>
            <a:lvl8pPr>
              <a:defRPr sz="1875" b="0">
                <a:solidFill>
                  <a:srgbClr val="243646"/>
                </a:solidFill>
                <a:latin typeface="Arial"/>
                <a:ea typeface="Arial"/>
                <a:cs typeface="Arial"/>
              </a:defRPr>
            </a:lvl8pPr>
            <a:lvl9pPr>
              <a:defRPr sz="1875" b="0">
                <a:solidFill>
                  <a:srgbClr val="243646"/>
                </a:solidFill>
                <a:latin typeface="Arial"/>
                <a:ea typeface="Arial"/>
                <a:cs typeface="Arial"/>
              </a:defRPr>
            </a:lvl9pPr>
          </a:lstStyle>
          <a:p xmlns:a="http://schemas.openxmlformats.org/drawingml/2006/main">
            <a:pPr>
              <a:defRPr sz="1875" b="0">
                <a:solidFill>
                  <a:srgbClr val="243646"/>
                </a:solidFill>
                <a:latin typeface="Arial"/>
                <a:ea typeface="Arial"/>
                <a:cs typeface="Arial"/>
              </a:defRPr>
            </a:pPr>
            <a:r>
              <a:rPr sz="1875" b="0">
                <a:solidFill>
                  <a:srgbClr val="243646"/>
                </a:solidFill>
                <a:latin typeface="Arial"/>
                <a:ea typeface="Arial"/>
                <a:cs typeface="Arial"/>
              </a:rPr>
              <a:t>Play / Pause / Stop, меню сцены, Files и Console.</a:t>
            </a:r>
          </a:p>
        </p:txBody>
      </p:sp>
      <p:sp>
        <p:nvSpPr>
          <p:cNvPr id="9" name="">
            <a:extLst xmlns:a="http://schemas.openxmlformats.org/drawingml/2006/main">
              <a:ext uri="{FF2B5EF4-FFF2-40B4-BE49-F238E27FC236}">
                <a16:creationId xmlns:a16="http://schemas.microsoft.com/office/drawing/2014/main" id="{F2DBB03D-654E-4F53-9B81-A06997F8AE1C}"/>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Снимок панелей редактора. 3D-изображение viewport не попало в захват окна.</a:t>
            </a:r>
          </a:p>
        </p:txBody>
      </p:sp>
      <p:sp>
        <p:nvSpPr>
          <p:cNvPr id="10" name="">
            <a:extLst xmlns:a="http://schemas.openxmlformats.org/drawingml/2006/main">
              <a:ext uri="{FF2B5EF4-FFF2-40B4-BE49-F238E27FC236}">
                <a16:creationId xmlns:a16="http://schemas.microsoft.com/office/drawing/2014/main" id="{4C009058-AED8-4671-8F3A-EF464F34958F}"/>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04</a:t>
            </a:r>
          </a:p>
        </p:txBody>
      </p:sp>
    </p:spTree>
    <p:extLst>
      <p:ext uri="{BB962C8B-B14F-4D97-AF65-F5344CB8AC3E}">
        <p14:creationId xmlns:p14="http://schemas.microsoft.com/office/powerpoint/2010/main" val="519864795"/>
      </p:ext>
    </p:extLst>
  </p:cSld>
</p:sld>
</file>

<file path=ppt/slides/slide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83A19FA-78B6-4A57-BF7F-DE89666879E5}"/>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Камера и выделение в Edit</a:t>
            </a:r>
          </a:p>
        </p:txBody>
      </p:sp>
      <p:graphicFrame>
        <p:nvGraphicFramePr>
          <p:cNvPr id="2" name="">
            <a:extLst xmlns:a="http://schemas.openxmlformats.org/drawingml/2006/main">
              <a:ext uri="{FF2B5EF4-FFF2-40B4-BE49-F238E27FC236}">
                <a16:creationId xmlns:a16="http://schemas.microsoft.com/office/drawing/2014/main" id="{508526D1-DB26-451C-B271-DC5DD90609B1}"/>
              </a:ext>
            </a:extLst>
          </p:cNvPr>
          <p:cNvGraphicFramePr/>
          <p:nvPr/>
        </p:nvGraphicFramePr>
        <p:xfrm>
          <a:off xmlns:a="http://schemas.openxmlformats.org/drawingml/2006/main" x="609600" y="1562100"/>
          <a:ext xmlns:a="http://schemas.openxmlformats.org/drawingml/2006/main" cx="10972800" cy="4133850"/>
        </p:xfrm>
        <a:graphic xmlns:a="http://schemas.openxmlformats.org/drawingml/2006/main">
          <a:graphicData uri="http://schemas.openxmlformats.org/drawingml/2006/table">
            <a:tbl>
              <a:tblPr/>
              <a:tblGrid>
                <a:gridCol w="4095750"/>
                <a:gridCol w="6877050"/>
              </a:tblGrid>
              <a:tr h="590550">
                <a:tc>
                  <a:txBody>
                    <a:bodyPr/>
                    <a:lstStyle/>
                    <a:p>
                      <a:r>
                        <a:rPr sz="1800" b="1">
                          <a:solidFill>
                            <a:srgbClr val="FFFFFF"/>
                          </a:solidFill>
                          <a:latin typeface="Arial"/>
                          <a:ea typeface="Arial"/>
                          <a:cs typeface="Arial"/>
                        </a:rPr>
                        <a:t>Действие</a:t>
                      </a:r>
                    </a:p>
                  </a:txBody>
                  <a:tcPr marL="133350" marR="133350" marT="114300" marB="95250">
                    <a:lnL w="9525">
                      <a:solidFill>
                        <a:srgbClr val="D9E1E5"/>
                      </a:solidFill>
                      <a:prstDash val="solid"/>
                    </a:lnL>
                    <a:lnR w="9525">
                      <a:solidFill>
                        <a:srgbClr val="D9E1E5"/>
                      </a:solidFill>
                      <a:prstDash val="solid"/>
                    </a:lnR>
                    <a:lnT w="9525">
                      <a:solidFill>
                        <a:srgbClr val="D9E1E5"/>
                      </a:solidFill>
                      <a:prstDash val="solid"/>
                    </a:lnT>
                    <a:lnB w="9525">
                      <a:solidFill>
                        <a:srgbClr val="D9E1E5"/>
                      </a:solidFill>
                      <a:prstDash val="solid"/>
                    </a:lnB>
                    <a:solidFill>
                      <a:srgbClr val="13384A"/>
                    </a:solidFill>
                  </a:tcPr>
                </a:tc>
                <a:tc>
                  <a:txBody>
                    <a:bodyPr/>
                    <a:lstStyle/>
                    <a:p>
                      <a:r>
                        <a:rPr sz="1800" b="1">
                          <a:solidFill>
                            <a:srgbClr val="FFFFFF"/>
                          </a:solidFill>
                          <a:latin typeface="Arial"/>
                          <a:ea typeface="Arial"/>
                          <a:cs typeface="Arial"/>
                        </a:rPr>
                        <a:t>Управление</a:t>
                      </a:r>
                    </a:p>
                  </a:txBody>
                  <a:tcPr marL="133350" marR="133350" marT="114300" marB="95250">
                    <a:lnR w="9525">
                      <a:solidFill>
                        <a:srgbClr val="D9E1E5"/>
                      </a:solidFill>
                      <a:prstDash val="solid"/>
                    </a:lnR>
                    <a:lnT w="9525">
                      <a:solidFill>
                        <a:srgbClr val="D9E1E5"/>
                      </a:solidFill>
                      <a:prstDash val="solid"/>
                    </a:lnT>
                    <a:lnB w="9525">
                      <a:solidFill>
                        <a:srgbClr val="D9E1E5"/>
                      </a:solidFill>
                      <a:prstDash val="solid"/>
                    </a:lnB>
                    <a:solidFill>
                      <a:srgbClr val="13384A"/>
                    </a:solidFill>
                  </a:tcPr>
                </a:tc>
              </a:tr>
              <a:tr h="590550">
                <a:tc>
                  <a:txBody>
                    <a:bodyPr/>
                    <a:lstStyle/>
                    <a:p>
                      <a:r>
                        <a:rPr sz="1800">
                          <a:solidFill>
                            <a:srgbClr val="243646"/>
                          </a:solidFill>
                          <a:latin typeface="Arial"/>
                          <a:ea typeface="Arial"/>
                          <a:cs typeface="Arial"/>
                        </a:rPr>
                        <a:t>Движение камеры</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WASD, вверх E, вниз Q</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Обзор и ускорение</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ПКМ + мышь, Shift ускоряет движение</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Выбор объекта</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ЛКМ в viewport или строка иерархии, Tab перебирает объекты</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Фокус на выбранном</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F</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Перемещение объекта</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Стрелки, Page Up / Page Down</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Снять выделение</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Esc</a:t>
                      </a:r>
                    </a:p>
                  </a:txBody>
                  <a:tcPr marL="133350" marR="133350" marT="114300" marB="95250">
                    <a:lnR w="9525">
                      <a:solidFill>
                        <a:srgbClr val="D9E1E5"/>
                      </a:solidFill>
                      <a:prstDash val="solid"/>
                    </a:lnR>
                    <a:lnB w="9525">
                      <a:solidFill>
                        <a:srgbClr val="D9E1E5"/>
                      </a:solidFill>
                      <a:prstDash val="solid"/>
                    </a:lnB>
                    <a:solidFill>
                      <a:srgbClr val="F5F7F8"/>
                    </a:solidFill>
                  </a:tcPr>
                </a:tc>
              </a:tr>
            </a:tbl>
          </a:graphicData>
        </a:graphic>
      </p:graphicFrame>
      <p:sp>
        <p:nvSpPr>
          <p:cNvPr id="3" name="">
            <a:extLst xmlns:a="http://schemas.openxmlformats.org/drawingml/2006/main">
              <a:ext uri="{FF2B5EF4-FFF2-40B4-BE49-F238E27FC236}">
                <a16:creationId xmlns:a16="http://schemas.microsoft.com/office/drawing/2014/main" id="{53F7A222-C981-4C49-B6A8-A8CA9FA2AB02}"/>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Сначала щёлкните viewport. При вводе текста команды движения не должны срабатывать.</a:t>
            </a:r>
          </a:p>
        </p:txBody>
      </p:sp>
      <p:sp>
        <p:nvSpPr>
          <p:cNvPr id="4" name="">
            <a:extLst xmlns:a="http://schemas.openxmlformats.org/drawingml/2006/main">
              <a:ext uri="{FF2B5EF4-FFF2-40B4-BE49-F238E27FC236}">
                <a16:creationId xmlns:a16="http://schemas.microsoft.com/office/drawing/2014/main" id="{0D4BB9F9-5B74-4EE0-99B9-2320F53F00EE}"/>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05</a:t>
            </a:r>
          </a:p>
        </p:txBody>
      </p:sp>
    </p:spTree>
    <p:extLst>
      <p:ext uri="{BB962C8B-B14F-4D97-AF65-F5344CB8AC3E}">
        <p14:creationId xmlns:p14="http://schemas.microsoft.com/office/powerpoint/2010/main" val="616440396"/>
      </p:ext>
    </p:extLst>
  </p:cSld>
</p:sld>
</file>

<file path=ppt/slides/slide6.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39CE3BE-DAAA-44AB-A298-2A4D86752AC0}"/>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Сборка простой сцены</a:t>
            </a:r>
          </a:p>
        </p:txBody>
      </p:sp>
      <p:sp>
        <p:nvSpPr>
          <p:cNvPr id="2" name="">
            <a:extLst xmlns:a="http://schemas.openxmlformats.org/drawingml/2006/main">
              <a:ext uri="{FF2B5EF4-FFF2-40B4-BE49-F238E27FC236}">
                <a16:creationId xmlns:a16="http://schemas.microsoft.com/office/drawing/2014/main" id="{1C89115C-7BD3-42B2-AEC6-0CA864B93884}"/>
              </a:ext>
            </a:extLst>
          </p:cNvPr>
          <p:cNvSpPr>
            <a:spLocks xmlns:a="http://schemas.openxmlformats.org/drawingml/2006/main" noGrp="1"/>
          </p:cNvSpPr>
          <p:nvPr/>
        </p:nvSpPr>
        <p:spPr>
          <a:xfrm xmlns:a="http://schemas.openxmlformats.org/drawingml/2006/main">
            <a:off x="609600" y="1666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1. Основание</a:t>
            </a:r>
          </a:p>
        </p:txBody>
      </p:sp>
      <p:sp>
        <p:nvSpPr>
          <p:cNvPr id="3" name="">
            <a:extLst xmlns:a="http://schemas.openxmlformats.org/drawingml/2006/main">
              <a:ext uri="{FF2B5EF4-FFF2-40B4-BE49-F238E27FC236}">
                <a16:creationId xmlns:a16="http://schemas.microsoft.com/office/drawing/2014/main" id="{7EC67DA4-2805-4711-B122-675CC86AE3C1}"/>
              </a:ext>
            </a:extLst>
          </p:cNvPr>
          <p:cNvSpPr>
            <a:spLocks xmlns:a="http://schemas.openxmlformats.org/drawingml/2006/main" noGrp="1"/>
          </p:cNvSpPr>
          <p:nvPr/>
        </p:nvSpPr>
        <p:spPr>
          <a:xfrm xmlns:a="http://schemas.openxmlformats.org/drawingml/2006/main">
            <a:off x="4191000" y="1695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В категории примитивов добавьте плоскость в (0, 0, 0). Задайте масштаб (10, 1, 10).</a:t>
            </a:r>
          </a:p>
        </p:txBody>
      </p:sp>
      <p:sp>
        <p:nvSpPr>
          <p:cNvPr id="4" name="">
            <a:extLst xmlns:a="http://schemas.openxmlformats.org/drawingml/2006/main">
              <a:ext uri="{FF2B5EF4-FFF2-40B4-BE49-F238E27FC236}">
                <a16:creationId xmlns:a16="http://schemas.microsoft.com/office/drawing/2014/main" id="{D302B5EB-727A-40ED-A4AC-6F92550467A2}"/>
              </a:ext>
            </a:extLst>
          </p:cNvPr>
          <p:cNvSpPr>
            <a:spLocks xmlns:a="http://schemas.openxmlformats.org/drawingml/2006/main" noGrp="1"/>
          </p:cNvSpPr>
          <p:nvPr/>
        </p:nvSpPr>
        <p:spPr>
          <a:xfrm xmlns:a="http://schemas.openxmlformats.org/drawingml/2006/main">
            <a:off x="609600" y="30003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2. Ориентиры</a:t>
            </a:r>
          </a:p>
        </p:txBody>
      </p:sp>
      <p:sp>
        <p:nvSpPr>
          <p:cNvPr id="5" name="">
            <a:extLst xmlns:a="http://schemas.openxmlformats.org/drawingml/2006/main">
              <a:ext uri="{FF2B5EF4-FFF2-40B4-BE49-F238E27FC236}">
                <a16:creationId xmlns:a16="http://schemas.microsoft.com/office/drawing/2014/main" id="{AB7F533A-9C73-443D-9CD6-DA355E1BE63F}"/>
              </a:ext>
            </a:extLst>
          </p:cNvPr>
          <p:cNvSpPr>
            <a:spLocks xmlns:a="http://schemas.openxmlformats.org/drawingml/2006/main" noGrp="1"/>
          </p:cNvSpPr>
          <p:nvPr/>
        </p:nvSpPr>
        <p:spPr>
          <a:xfrm xmlns:a="http://schemas.openxmlformats.org/drawingml/2006/main">
            <a:off x="4191000" y="30289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Добавьте куб или сферу. Меняйте позицию, поворот, масштаб и цвет в инспекторе.</a:t>
            </a:r>
          </a:p>
        </p:txBody>
      </p:sp>
      <p:sp>
        <p:nvSpPr>
          <p:cNvPr id="6" name="">
            <a:extLst xmlns:a="http://schemas.openxmlformats.org/drawingml/2006/main">
              <a:ext uri="{FF2B5EF4-FFF2-40B4-BE49-F238E27FC236}">
                <a16:creationId xmlns:a16="http://schemas.microsoft.com/office/drawing/2014/main" id="{A7529CE2-3437-4E5B-A0E0-049C83A12C4D}"/>
              </a:ext>
            </a:extLst>
          </p:cNvPr>
          <p:cNvSpPr>
            <a:spLocks xmlns:a="http://schemas.openxmlformats.org/drawingml/2006/main" noGrp="1"/>
          </p:cNvSpPr>
          <p:nvPr/>
        </p:nvSpPr>
        <p:spPr>
          <a:xfrm xmlns:a="http://schemas.openxmlformats.org/drawingml/2006/main">
            <a:off x="609600" y="4333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3. Правки</a:t>
            </a:r>
          </a:p>
        </p:txBody>
      </p:sp>
      <p:sp>
        <p:nvSpPr>
          <p:cNvPr id="7" name="">
            <a:extLst xmlns:a="http://schemas.openxmlformats.org/drawingml/2006/main">
              <a:ext uri="{FF2B5EF4-FFF2-40B4-BE49-F238E27FC236}">
                <a16:creationId xmlns:a16="http://schemas.microsoft.com/office/drawing/2014/main" id="{A9982273-0E42-48D3-BCF3-9CDD610B79A2}"/>
              </a:ext>
            </a:extLst>
          </p:cNvPr>
          <p:cNvSpPr>
            <a:spLocks xmlns:a="http://schemas.openxmlformats.org/drawingml/2006/main" noGrp="1"/>
          </p:cNvSpPr>
          <p:nvPr/>
        </p:nvSpPr>
        <p:spPr>
          <a:xfrm xmlns:a="http://schemas.openxmlformats.org/drawingml/2006/main">
            <a:off x="4191000" y="4362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Ctrl+D дублирует объект. Ctrl+Z отменяет изменение. Удаление доступно в панели сцены.</a:t>
            </a:r>
          </a:p>
        </p:txBody>
      </p:sp>
      <p:sp>
        <p:nvSpPr>
          <p:cNvPr id="8" name="">
            <a:extLst xmlns:a="http://schemas.openxmlformats.org/drawingml/2006/main">
              <a:ext uri="{FF2B5EF4-FFF2-40B4-BE49-F238E27FC236}">
                <a16:creationId xmlns:a16="http://schemas.microsoft.com/office/drawing/2014/main" id="{7A578544-8A91-4266-9E9B-97756E03B3C4}"/>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Точка добавления X / Y / Z задаёт место появления нового объекта.</a:t>
            </a:r>
          </a:p>
        </p:txBody>
      </p:sp>
      <p:sp>
        <p:nvSpPr>
          <p:cNvPr id="9" name="">
            <a:extLst xmlns:a="http://schemas.openxmlformats.org/drawingml/2006/main">
              <a:ext uri="{FF2B5EF4-FFF2-40B4-BE49-F238E27FC236}">
                <a16:creationId xmlns:a16="http://schemas.microsoft.com/office/drawing/2014/main" id="{FCB1764A-A0FD-49EC-ADE0-CE7756D9A1EC}"/>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06</a:t>
            </a:r>
          </a:p>
        </p:txBody>
      </p:sp>
    </p:spTree>
    <p:extLst>
      <p:ext uri="{BB962C8B-B14F-4D97-AF65-F5344CB8AC3E}">
        <p14:creationId xmlns:p14="http://schemas.microsoft.com/office/powerpoint/2010/main" val="1667606193"/>
      </p:ext>
    </p:extLst>
  </p:cSld>
</p:sld>
</file>

<file path=ppt/slides/slide7.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773B7A1-FA32-47DD-9062-F128B088586C}"/>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Модели и текстуры</a:t>
            </a:r>
          </a:p>
        </p:txBody>
      </p:sp>
      <p:sp>
        <p:nvSpPr>
          <p:cNvPr id="2" name="">
            <a:extLst xmlns:a="http://schemas.openxmlformats.org/drawingml/2006/main">
              <a:ext uri="{FF2B5EF4-FFF2-40B4-BE49-F238E27FC236}">
                <a16:creationId xmlns:a16="http://schemas.microsoft.com/office/drawing/2014/main" id="{6C7705E1-95E3-4367-B0E7-F61449AA9C41}"/>
              </a:ext>
            </a:extLst>
          </p:cNvPr>
          <p:cNvSpPr>
            <a:spLocks xmlns:a="http://schemas.openxmlformats.org/drawingml/2006/main" noGrp="1"/>
          </p:cNvSpPr>
          <p:nvPr/>
        </p:nvSpPr>
        <p:spPr>
          <a:xfrm xmlns:a="http://schemas.openxmlformats.org/drawingml/2006/main">
            <a:off x="609600" y="1666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Импорт в проект</a:t>
            </a:r>
          </a:p>
        </p:txBody>
      </p:sp>
      <p:sp>
        <p:nvSpPr>
          <p:cNvPr id="3" name="">
            <a:extLst xmlns:a="http://schemas.openxmlformats.org/drawingml/2006/main">
              <a:ext uri="{FF2B5EF4-FFF2-40B4-BE49-F238E27FC236}">
                <a16:creationId xmlns:a16="http://schemas.microsoft.com/office/drawing/2014/main" id="{B6E46A45-8D46-494D-88C3-8D32D6E98838}"/>
              </a:ext>
            </a:extLst>
          </p:cNvPr>
          <p:cNvSpPr>
            <a:spLocks xmlns:a="http://schemas.openxmlformats.org/drawingml/2006/main" noGrp="1"/>
          </p:cNvSpPr>
          <p:nvPr/>
        </p:nvSpPr>
        <p:spPr>
          <a:xfrm xmlns:a="http://schemas.openxmlformats.org/drawingml/2006/main">
            <a:off x="4191000" y="1695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Меню «Сцена»: «Импорт модели…» или «Импорт текстуры…».</a:t>
            </a:r>
          </a:p>
        </p:txBody>
      </p:sp>
      <p:sp>
        <p:nvSpPr>
          <p:cNvPr id="4" name="">
            <a:extLst xmlns:a="http://schemas.openxmlformats.org/drawingml/2006/main">
              <a:ext uri="{FF2B5EF4-FFF2-40B4-BE49-F238E27FC236}">
                <a16:creationId xmlns:a16="http://schemas.microsoft.com/office/drawing/2014/main" id="{391B5293-9B9A-4F43-A324-78DEB90758FB}"/>
              </a:ext>
            </a:extLst>
          </p:cNvPr>
          <p:cNvSpPr>
            <a:spLocks xmlns:a="http://schemas.openxmlformats.org/drawingml/2006/main" noGrp="1"/>
          </p:cNvSpPr>
          <p:nvPr/>
        </p:nvSpPr>
        <p:spPr>
          <a:xfrm xmlns:a="http://schemas.openxmlformats.org/drawingml/2006/main">
            <a:off x="609600" y="30003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Размещение модели</a:t>
            </a:r>
          </a:p>
        </p:txBody>
      </p:sp>
      <p:sp>
        <p:nvSpPr>
          <p:cNvPr id="5" name="">
            <a:extLst xmlns:a="http://schemas.openxmlformats.org/drawingml/2006/main">
              <a:ext uri="{FF2B5EF4-FFF2-40B4-BE49-F238E27FC236}">
                <a16:creationId xmlns:a16="http://schemas.microsoft.com/office/drawing/2014/main" id="{EC39B17E-9D32-4FC0-B828-3C6057F62382}"/>
              </a:ext>
            </a:extLst>
          </p:cNvPr>
          <p:cNvSpPr>
            <a:spLocks xmlns:a="http://schemas.openxmlformats.org/drawingml/2006/main" noGrp="1"/>
          </p:cNvSpPr>
          <p:nvPr/>
        </p:nvSpPr>
        <p:spPr>
          <a:xfrm xmlns:a="http://schemas.openxmlformats.org/drawingml/2006/main">
            <a:off x="4191000" y="30289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«Добавить модель…» выбирает ресурс из Content/Models и размещает его в точке добавления.</a:t>
            </a:r>
          </a:p>
        </p:txBody>
      </p:sp>
      <p:sp>
        <p:nvSpPr>
          <p:cNvPr id="6" name="">
            <a:extLst xmlns:a="http://schemas.openxmlformats.org/drawingml/2006/main">
              <a:ext uri="{FF2B5EF4-FFF2-40B4-BE49-F238E27FC236}">
                <a16:creationId xmlns:a16="http://schemas.microsoft.com/office/drawing/2014/main" id="{00829B80-A494-4810-990B-5EAC707C34E4}"/>
              </a:ext>
            </a:extLst>
          </p:cNvPr>
          <p:cNvSpPr>
            <a:spLocks xmlns:a="http://schemas.openxmlformats.org/drawingml/2006/main" noGrp="1"/>
          </p:cNvSpPr>
          <p:nvPr/>
        </p:nvSpPr>
        <p:spPr>
          <a:xfrm xmlns:a="http://schemas.openxmlformats.org/drawingml/2006/main">
            <a:off x="609600" y="4333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Назначение текстуры</a:t>
            </a:r>
          </a:p>
        </p:txBody>
      </p:sp>
      <p:sp>
        <p:nvSpPr>
          <p:cNvPr id="7" name="">
            <a:extLst xmlns:a="http://schemas.openxmlformats.org/drawingml/2006/main">
              <a:ext uri="{FF2B5EF4-FFF2-40B4-BE49-F238E27FC236}">
                <a16:creationId xmlns:a16="http://schemas.microsoft.com/office/drawing/2014/main" id="{15AC6952-2AAD-4297-A157-24D3A5467C19}"/>
              </a:ext>
            </a:extLst>
          </p:cNvPr>
          <p:cNvSpPr>
            <a:spLocks xmlns:a="http://schemas.openxmlformats.org/drawingml/2006/main" noGrp="1"/>
          </p:cNvSpPr>
          <p:nvPr/>
        </p:nvSpPr>
        <p:spPr>
          <a:xfrm xmlns:a="http://schemas.openxmlformats.org/drawingml/2006/main">
            <a:off x="4191000" y="4362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Выберите объект, затем текстуру в инспекторе или откройте её двойным щелчком в Files.</a:t>
            </a:r>
          </a:p>
        </p:txBody>
      </p:sp>
      <p:sp>
        <p:nvSpPr>
          <p:cNvPr id="8" name="">
            <a:extLst xmlns:a="http://schemas.openxmlformats.org/drawingml/2006/main">
              <a:ext uri="{FF2B5EF4-FFF2-40B4-BE49-F238E27FC236}">
                <a16:creationId xmlns:a16="http://schemas.microsoft.com/office/drawing/2014/main" id="{D9B19A1F-F1AB-437E-A13C-41CE92F56A15}"/>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Модели: GLB, GLTF, OBJ, FBX. Текстуры: PNG, JPG, JPEG, BMP, TGA. Импорт моделей требует сборки с Assimp.</a:t>
            </a:r>
          </a:p>
        </p:txBody>
      </p:sp>
      <p:sp>
        <p:nvSpPr>
          <p:cNvPr id="9" name="">
            <a:extLst xmlns:a="http://schemas.openxmlformats.org/drawingml/2006/main">
              <a:ext uri="{FF2B5EF4-FFF2-40B4-BE49-F238E27FC236}">
                <a16:creationId xmlns:a16="http://schemas.microsoft.com/office/drawing/2014/main" id="{A503BFF7-037F-424E-B9CE-B4CB24828B56}"/>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07</a:t>
            </a:r>
          </a:p>
        </p:txBody>
      </p:sp>
    </p:spTree>
    <p:extLst>
      <p:ext uri="{BB962C8B-B14F-4D97-AF65-F5344CB8AC3E}">
        <p14:creationId xmlns:p14="http://schemas.microsoft.com/office/powerpoint/2010/main" val="1498541116"/>
      </p:ext>
    </p:extLst>
  </p:cSld>
</p:sld>
</file>

<file path=ppt/slides/slide8.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BA772E7-8FFC-49A4-9237-5BDE42E869ED}"/>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Свет, частицы и небо</a:t>
            </a:r>
          </a:p>
        </p:txBody>
      </p:sp>
      <p:sp>
        <p:nvSpPr>
          <p:cNvPr id="2" name="">
            <a:extLst xmlns:a="http://schemas.openxmlformats.org/drawingml/2006/main">
              <a:ext uri="{FF2B5EF4-FFF2-40B4-BE49-F238E27FC236}">
                <a16:creationId xmlns:a16="http://schemas.microsoft.com/office/drawing/2014/main" id="{01BC4914-42A3-44F5-89EE-36801CF7950D}"/>
              </a:ext>
            </a:extLst>
          </p:cNvPr>
          <p:cNvSpPr>
            <a:spLocks xmlns:a="http://schemas.openxmlformats.org/drawingml/2006/main" noGrp="1"/>
          </p:cNvSpPr>
          <p:nvPr/>
        </p:nvSpPr>
        <p:spPr>
          <a:xfrm xmlns:a="http://schemas.openxmlformats.org/drawingml/2006/main">
            <a:off x="609600" y="1666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Точечный свет</a:t>
            </a:r>
          </a:p>
        </p:txBody>
      </p:sp>
      <p:sp>
        <p:nvSpPr>
          <p:cNvPr id="3" name="">
            <a:extLst xmlns:a="http://schemas.openxmlformats.org/drawingml/2006/main">
              <a:ext uri="{FF2B5EF4-FFF2-40B4-BE49-F238E27FC236}">
                <a16:creationId xmlns:a16="http://schemas.microsoft.com/office/drawing/2014/main" id="{8340B0F6-405D-41BA-8287-38682B984AD5}"/>
              </a:ext>
            </a:extLst>
          </p:cNvPr>
          <p:cNvSpPr>
            <a:spLocks xmlns:a="http://schemas.openxmlformats.org/drawingml/2006/main" noGrp="1"/>
          </p:cNvSpPr>
          <p:nvPr/>
        </p:nvSpPr>
        <p:spPr>
          <a:xfrm xmlns:a="http://schemas.openxmlformats.org/drawingml/2006/main">
            <a:off x="4191000" y="1695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Добавьте источник, затем настройте цвет, интенсивность, радиус и флаг включения.</a:t>
            </a:r>
          </a:p>
        </p:txBody>
      </p:sp>
      <p:sp>
        <p:nvSpPr>
          <p:cNvPr id="4" name="">
            <a:extLst xmlns:a="http://schemas.openxmlformats.org/drawingml/2006/main">
              <a:ext uri="{FF2B5EF4-FFF2-40B4-BE49-F238E27FC236}">
                <a16:creationId xmlns:a16="http://schemas.microsoft.com/office/drawing/2014/main" id="{C11A80B3-42AB-4B1F-8504-B9DDB539353B}"/>
              </a:ext>
            </a:extLst>
          </p:cNvPr>
          <p:cNvSpPr>
            <a:spLocks xmlns:a="http://schemas.openxmlformats.org/drawingml/2006/main" noGrp="1"/>
          </p:cNvSpPr>
          <p:nvPr/>
        </p:nvSpPr>
        <p:spPr>
          <a:xfrm xmlns:a="http://schemas.openxmlformats.org/drawingml/2006/main">
            <a:off x="609600" y="30003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Искры и дым</a:t>
            </a:r>
          </a:p>
        </p:txBody>
      </p:sp>
      <p:sp>
        <p:nvSpPr>
          <p:cNvPr id="5" name="">
            <a:extLst xmlns:a="http://schemas.openxmlformats.org/drawingml/2006/main">
              <a:ext uri="{FF2B5EF4-FFF2-40B4-BE49-F238E27FC236}">
                <a16:creationId xmlns:a16="http://schemas.microsoft.com/office/drawing/2014/main" id="{0DD57D7C-71CE-4E27-B47B-0AB1DDEE835B}"/>
              </a:ext>
            </a:extLst>
          </p:cNvPr>
          <p:cNvSpPr>
            <a:spLocks xmlns:a="http://schemas.openxmlformats.org/drawingml/2006/main" noGrp="1"/>
          </p:cNvSpPr>
          <p:nvPr/>
        </p:nvSpPr>
        <p:spPr>
          <a:xfrm xmlns:a="http://schemas.openxmlformats.org/drawingml/2006/main">
            <a:off x="4191000" y="30289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Категория частиц содержит готовые варианты. Разместите эффект и настройте доступные свойства.</a:t>
            </a:r>
          </a:p>
        </p:txBody>
      </p:sp>
      <p:sp>
        <p:nvSpPr>
          <p:cNvPr id="6" name="">
            <a:extLst xmlns:a="http://schemas.openxmlformats.org/drawingml/2006/main">
              <a:ext uri="{FF2B5EF4-FFF2-40B4-BE49-F238E27FC236}">
                <a16:creationId xmlns:a16="http://schemas.microsoft.com/office/drawing/2014/main" id="{7D798275-ACF5-4156-8F0E-27FAA0640BF6}"/>
              </a:ext>
            </a:extLst>
          </p:cNvPr>
          <p:cNvSpPr>
            <a:spLocks xmlns:a="http://schemas.openxmlformats.org/drawingml/2006/main" noGrp="1"/>
          </p:cNvSpPr>
          <p:nvPr/>
        </p:nvSpPr>
        <p:spPr>
          <a:xfrm xmlns:a="http://schemas.openxmlformats.org/drawingml/2006/main">
            <a:off x="609600" y="4333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Базовое небо</a:t>
            </a:r>
          </a:p>
        </p:txBody>
      </p:sp>
      <p:sp>
        <p:nvSpPr>
          <p:cNvPr id="7" name="">
            <a:extLst xmlns:a="http://schemas.openxmlformats.org/drawingml/2006/main">
              <a:ext uri="{FF2B5EF4-FFF2-40B4-BE49-F238E27FC236}">
                <a16:creationId xmlns:a16="http://schemas.microsoft.com/office/drawing/2014/main" id="{3D3A81FA-C42A-4494-AB41-0ACEADD27FA4}"/>
              </a:ext>
            </a:extLst>
          </p:cNvPr>
          <p:cNvSpPr>
            <a:spLocks xmlns:a="http://schemas.openxmlformats.org/drawingml/2006/main" noGrp="1"/>
          </p:cNvSpPr>
          <p:nvPr/>
        </p:nvSpPr>
        <p:spPr>
          <a:xfrm xmlns:a="http://schemas.openxmlformats.org/drawingml/2006/main">
            <a:off x="4191000" y="4362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В категории «Окружение» добавьте небо и проверьте сцену с нужной камеры.</a:t>
            </a:r>
          </a:p>
        </p:txBody>
      </p:sp>
      <p:sp>
        <p:nvSpPr>
          <p:cNvPr id="8" name="">
            <a:extLst xmlns:a="http://schemas.openxmlformats.org/drawingml/2006/main">
              <a:ext uri="{FF2B5EF4-FFF2-40B4-BE49-F238E27FC236}">
                <a16:creationId xmlns:a16="http://schemas.microsoft.com/office/drawing/2014/main" id="{91B2211D-D787-4185-8EDA-BE34F7169A07}"/>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Меняйте один параметр за раз, чтобы видеть его влияние на сцену.</a:t>
            </a:r>
          </a:p>
        </p:txBody>
      </p:sp>
      <p:sp>
        <p:nvSpPr>
          <p:cNvPr id="9" name="">
            <a:extLst xmlns:a="http://schemas.openxmlformats.org/drawingml/2006/main">
              <a:ext uri="{FF2B5EF4-FFF2-40B4-BE49-F238E27FC236}">
                <a16:creationId xmlns:a16="http://schemas.microsoft.com/office/drawing/2014/main" id="{827F4227-91FE-4EEA-B268-1FD5FB1F5837}"/>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08</a:t>
            </a:r>
          </a:p>
        </p:txBody>
      </p:sp>
    </p:spTree>
    <p:extLst>
      <p:ext uri="{BB962C8B-B14F-4D97-AF65-F5344CB8AC3E}">
        <p14:creationId xmlns:p14="http://schemas.microsoft.com/office/powerpoint/2010/main" val="1091582453"/>
      </p:ext>
    </p:extLst>
  </p:cSld>
</p:sld>
</file>

<file path=ppt/slides/slide9.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D185D3-422B-44D5-BFDE-E7DF3E8F72E2}"/>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Стандартный персонаж</a:t>
            </a:r>
          </a:p>
        </p:txBody>
      </p:sp>
      <p:sp>
        <p:nvSpPr>
          <p:cNvPr id="2" name="">
            <a:extLst xmlns:a="http://schemas.openxmlformats.org/drawingml/2006/main">
              <a:ext uri="{FF2B5EF4-FFF2-40B4-BE49-F238E27FC236}">
                <a16:creationId xmlns:a16="http://schemas.microsoft.com/office/drawing/2014/main" id="{2EBBCB58-1BE9-4B61-9B97-18563D3F9B87}"/>
              </a:ext>
            </a:extLst>
          </p:cNvPr>
          <p:cNvSpPr>
            <a:spLocks xmlns:a="http://schemas.openxmlformats.org/drawingml/2006/main" noGrp="1"/>
          </p:cNvSpPr>
          <p:nvPr/>
        </p:nvSpPr>
        <p:spPr>
          <a:xfrm xmlns:a="http://schemas.openxmlformats.org/drawingml/2006/main">
            <a:off x="609600" y="1666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Добавление</a:t>
            </a:r>
          </a:p>
        </p:txBody>
      </p:sp>
      <p:sp>
        <p:nvSpPr>
          <p:cNvPr id="3" name="">
            <a:extLst xmlns:a="http://schemas.openxmlformats.org/drawingml/2006/main">
              <a:ext uri="{FF2B5EF4-FFF2-40B4-BE49-F238E27FC236}">
                <a16:creationId xmlns:a16="http://schemas.microsoft.com/office/drawing/2014/main" id="{590340F6-79DB-4157-84FB-8DDCB4698C14}"/>
              </a:ext>
            </a:extLst>
          </p:cNvPr>
          <p:cNvSpPr>
            <a:spLocks xmlns:a="http://schemas.openxmlformats.org/drawingml/2006/main" noGrp="1"/>
          </p:cNvSpPr>
          <p:nvPr/>
        </p:nvSpPr>
        <p:spPr>
          <a:xfrm xmlns:a="http://schemas.openxmlformats.org/drawingml/2006/main">
            <a:off x="4191000" y="1695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«Игровые объекты», затем «Персонаж» и «Добавить объект».</a:t>
            </a:r>
          </a:p>
        </p:txBody>
      </p:sp>
      <p:sp>
        <p:nvSpPr>
          <p:cNvPr id="4" name="">
            <a:extLst xmlns:a="http://schemas.openxmlformats.org/drawingml/2006/main">
              <a:ext uri="{FF2B5EF4-FFF2-40B4-BE49-F238E27FC236}">
                <a16:creationId xmlns:a16="http://schemas.microsoft.com/office/drawing/2014/main" id="{214827DE-F0C8-40DF-9CD5-FC699A37C742}"/>
              </a:ext>
            </a:extLst>
          </p:cNvPr>
          <p:cNvSpPr>
            <a:spLocks xmlns:a="http://schemas.openxmlformats.org/drawingml/2006/main" noGrp="1"/>
          </p:cNvSpPr>
          <p:nvPr/>
        </p:nvSpPr>
        <p:spPr>
          <a:xfrm xmlns:a="http://schemas.openxmlformats.org/drawingml/2006/main">
            <a:off x="609600" y="30003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Внешний вид</a:t>
            </a:r>
          </a:p>
        </p:txBody>
      </p:sp>
      <p:sp>
        <p:nvSpPr>
          <p:cNvPr id="5" name="">
            <a:extLst xmlns:a="http://schemas.openxmlformats.org/drawingml/2006/main">
              <a:ext uri="{FF2B5EF4-FFF2-40B4-BE49-F238E27FC236}">
                <a16:creationId xmlns:a16="http://schemas.microsoft.com/office/drawing/2014/main" id="{E561A957-969A-4306-A64C-8D5686067AC6}"/>
              </a:ext>
            </a:extLst>
          </p:cNvPr>
          <p:cNvSpPr>
            <a:spLocks xmlns:a="http://schemas.openxmlformats.org/drawingml/2006/main" noGrp="1"/>
          </p:cNvSpPr>
          <p:nvPr/>
        </p:nvSpPr>
        <p:spPr>
          <a:xfrm xmlns:a="http://schemas.openxmlformats.org/drawingml/2006/main">
            <a:off x="4191000" y="30289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По умолчанию это синий цилиндр диаметром 0,6 и высотой 1,8 единицы.</a:t>
            </a:r>
          </a:p>
        </p:txBody>
      </p:sp>
      <p:sp>
        <p:nvSpPr>
          <p:cNvPr id="6" name="">
            <a:extLst xmlns:a="http://schemas.openxmlformats.org/drawingml/2006/main">
              <a:ext uri="{FF2B5EF4-FFF2-40B4-BE49-F238E27FC236}">
                <a16:creationId xmlns:a16="http://schemas.microsoft.com/office/drawing/2014/main" id="{9F9B9117-3F7E-4DA1-9802-4644CFCF5DD1}"/>
              </a:ext>
            </a:extLst>
          </p:cNvPr>
          <p:cNvSpPr>
            <a:spLocks xmlns:a="http://schemas.openxmlformats.org/drawingml/2006/main" noGrp="1"/>
          </p:cNvSpPr>
          <p:nvPr/>
        </p:nvSpPr>
        <p:spPr>
          <a:xfrm xmlns:a="http://schemas.openxmlformats.org/drawingml/2006/main">
            <a:off x="609600" y="4333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Положение и скорость</a:t>
            </a:r>
          </a:p>
        </p:txBody>
      </p:sp>
      <p:sp>
        <p:nvSpPr>
          <p:cNvPr id="7" name="">
            <a:extLst xmlns:a="http://schemas.openxmlformats.org/drawingml/2006/main">
              <a:ext uri="{FF2B5EF4-FFF2-40B4-BE49-F238E27FC236}">
                <a16:creationId xmlns:a16="http://schemas.microsoft.com/office/drawing/2014/main" id="{CE498914-B7E8-4EDB-80AC-3AB38C55242C}"/>
              </a:ext>
            </a:extLst>
          </p:cNvPr>
          <p:cNvSpPr>
            <a:spLocks xmlns:a="http://schemas.openxmlformats.org/drawingml/2006/main" noGrp="1"/>
          </p:cNvSpPr>
          <p:nvPr/>
        </p:nvSpPr>
        <p:spPr>
          <a:xfrm xmlns:a="http://schemas.openxmlformats.org/drawingml/2006/main">
            <a:off x="4191000" y="4362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Для пола на Y=0 поставьте центр на Y=0,9. Скорость меняется через меню «Сцена».</a:t>
            </a:r>
          </a:p>
        </p:txBody>
      </p:sp>
      <p:sp>
        <p:nvSpPr>
          <p:cNvPr id="8" name="">
            <a:extLst xmlns:a="http://schemas.openxmlformats.org/drawingml/2006/main">
              <a:ext uri="{FF2B5EF4-FFF2-40B4-BE49-F238E27FC236}">
                <a16:creationId xmlns:a16="http://schemas.microsoft.com/office/drawing/2014/main" id="{7D90CA0D-BAC0-4D3E-89B5-9818E0A905EA}"/>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Персонаж сам по себе не принимает ввод. Для управления нужно назначение в настройках Play.</a:t>
            </a:r>
          </a:p>
        </p:txBody>
      </p:sp>
      <p:sp>
        <p:nvSpPr>
          <p:cNvPr id="9" name="">
            <a:extLst xmlns:a="http://schemas.openxmlformats.org/drawingml/2006/main">
              <a:ext uri="{FF2B5EF4-FFF2-40B4-BE49-F238E27FC236}">
                <a16:creationId xmlns:a16="http://schemas.microsoft.com/office/drawing/2014/main" id="{C49C6160-5EB9-4617-A029-271409F126A7}"/>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09</a:t>
            </a:r>
          </a:p>
        </p:txBody>
      </p:sp>
    </p:spTree>
    <p:extLst>
      <p:ext uri="{BB962C8B-B14F-4D97-AF65-F5344CB8AC3E}">
        <p14:creationId xmlns:p14="http://schemas.microsoft.com/office/powerpoint/2010/main" val="626820473"/>
      </p:ext>
    </p:extLst>
  </p:cSld>
</p:sld>
</file>

<file path=ppt/slides/slide10.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B63255-7A92-4153-97A3-495878341A56}"/>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Назначение для Play</a:t>
            </a:r>
          </a:p>
        </p:txBody>
      </p:sp>
      <p:graphicFrame>
        <p:nvGraphicFramePr>
          <p:cNvPr id="2" name="">
            <a:extLst xmlns:a="http://schemas.openxmlformats.org/drawingml/2006/main">
              <a:ext uri="{FF2B5EF4-FFF2-40B4-BE49-F238E27FC236}">
                <a16:creationId xmlns:a16="http://schemas.microsoft.com/office/drawing/2014/main" id="{CD562198-9D41-4A7F-B4F8-7F3ABEBFB3E6}"/>
              </a:ext>
            </a:extLst>
          </p:cNvPr>
          <p:cNvGraphicFramePr/>
          <p:nvPr/>
        </p:nvGraphicFramePr>
        <p:xfrm>
          <a:off xmlns:a="http://schemas.openxmlformats.org/drawingml/2006/main" x="609600" y="1562100"/>
          <a:ext xmlns:a="http://schemas.openxmlformats.org/drawingml/2006/main" cx="10972800" cy="3543300"/>
        </p:xfrm>
        <a:graphic xmlns:a="http://schemas.openxmlformats.org/drawingml/2006/main">
          <a:graphicData uri="http://schemas.openxmlformats.org/drawingml/2006/table">
            <a:tbl>
              <a:tblPr/>
              <a:tblGrid>
                <a:gridCol w="4095750"/>
                <a:gridCol w="6877050"/>
              </a:tblGrid>
              <a:tr h="590550">
                <a:tc>
                  <a:txBody>
                    <a:bodyPr/>
                    <a:lstStyle/>
                    <a:p>
                      <a:r>
                        <a:rPr sz="1800" b="1">
                          <a:solidFill>
                            <a:srgbClr val="FFFFFF"/>
                          </a:solidFill>
                          <a:latin typeface="Arial"/>
                          <a:ea typeface="Arial"/>
                          <a:cs typeface="Arial"/>
                        </a:rPr>
                        <a:t>Поле настроек Play</a:t>
                      </a:r>
                    </a:p>
                  </a:txBody>
                  <a:tcPr marL="133350" marR="133350" marT="114300" marB="95250">
                    <a:lnL w="9525">
                      <a:solidFill>
                        <a:srgbClr val="D9E1E5"/>
                      </a:solidFill>
                      <a:prstDash val="solid"/>
                    </a:lnL>
                    <a:lnR w="9525">
                      <a:solidFill>
                        <a:srgbClr val="D9E1E5"/>
                      </a:solidFill>
                      <a:prstDash val="solid"/>
                    </a:lnR>
                    <a:lnT w="9525">
                      <a:solidFill>
                        <a:srgbClr val="D9E1E5"/>
                      </a:solidFill>
                      <a:prstDash val="solid"/>
                    </a:lnT>
                    <a:lnB w="9525">
                      <a:solidFill>
                        <a:srgbClr val="D9E1E5"/>
                      </a:solidFill>
                      <a:prstDash val="solid"/>
                    </a:lnB>
                    <a:solidFill>
                      <a:srgbClr val="13384A"/>
                    </a:solidFill>
                  </a:tcPr>
                </a:tc>
                <a:tc>
                  <a:txBody>
                    <a:bodyPr/>
                    <a:lstStyle/>
                    <a:p>
                      <a:r>
                        <a:rPr sz="1800" b="1">
                          <a:solidFill>
                            <a:srgbClr val="FFFFFF"/>
                          </a:solidFill>
                          <a:latin typeface="Arial"/>
                          <a:ea typeface="Arial"/>
                          <a:cs typeface="Arial"/>
                        </a:rPr>
                        <a:t>Что выбрать</a:t>
                      </a:r>
                    </a:p>
                  </a:txBody>
                  <a:tcPr marL="133350" marR="133350" marT="114300" marB="95250">
                    <a:lnR w="9525">
                      <a:solidFill>
                        <a:srgbClr val="D9E1E5"/>
                      </a:solidFill>
                      <a:prstDash val="solid"/>
                    </a:lnR>
                    <a:lnT w="9525">
                      <a:solidFill>
                        <a:srgbClr val="D9E1E5"/>
                      </a:solidFill>
                      <a:prstDash val="solid"/>
                    </a:lnT>
                    <a:lnB w="9525">
                      <a:solidFill>
                        <a:srgbClr val="D9E1E5"/>
                      </a:solidFill>
                      <a:prstDash val="solid"/>
                    </a:lnB>
                    <a:solidFill>
                      <a:srgbClr val="13384A"/>
                    </a:solidFill>
                  </a:tcPr>
                </a:tc>
              </a:tr>
              <a:tr h="590550">
                <a:tc>
                  <a:txBody>
                    <a:bodyPr/>
                    <a:lstStyle/>
                    <a:p>
                      <a:r>
                        <a:rPr sz="1800">
                          <a:solidFill>
                            <a:srgbClr val="243646"/>
                          </a:solidFill>
                          <a:latin typeface="Arial"/>
                          <a:ea typeface="Arial"/>
                          <a:cs typeface="Arial"/>
                        </a:rPr>
                        <a:t>Персонаж</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Нужный объект из сцены</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Камера</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«Следовать за персонажем» для первого запуска</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Стандартное управление</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Включено: WASD и ПКМ + мышь</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Расстояние и высота камеры</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Начните со значений 5 и 2</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Чувствительность обзора</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Начальное значение 0,005</a:t>
                      </a:r>
                    </a:p>
                  </a:txBody>
                  <a:tcPr marL="133350" marR="133350" marT="114300" marB="95250">
                    <a:lnR w="9525">
                      <a:solidFill>
                        <a:srgbClr val="D9E1E5"/>
                      </a:solidFill>
                      <a:prstDash val="solid"/>
                    </a:lnR>
                    <a:lnB w="9525">
                      <a:solidFill>
                        <a:srgbClr val="D9E1E5"/>
                      </a:solidFill>
                      <a:prstDash val="solid"/>
                    </a:lnB>
                    <a:solidFill>
                      <a:srgbClr val="F5F7F8"/>
                    </a:solidFill>
                  </a:tcPr>
                </a:tc>
              </a:tr>
            </a:tbl>
          </a:graphicData>
        </a:graphic>
      </p:graphicFrame>
      <p:sp>
        <p:nvSpPr>
          <p:cNvPr id="3" name="">
            <a:extLst xmlns:a="http://schemas.openxmlformats.org/drawingml/2006/main">
              <a:ext uri="{FF2B5EF4-FFF2-40B4-BE49-F238E27FC236}">
                <a16:creationId xmlns:a16="http://schemas.microsoft.com/office/drawing/2014/main" id="{A2C44A8A-3A80-47B5-B53A-8C46639F7344}"/>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Откройте «Сцена / Настроить Play…». Диалог создаёт «Настройки Play», один объект на сцену.</a:t>
            </a:r>
          </a:p>
        </p:txBody>
      </p:sp>
      <p:sp>
        <p:nvSpPr>
          <p:cNvPr id="4" name="">
            <a:extLst xmlns:a="http://schemas.openxmlformats.org/drawingml/2006/main">
              <a:ext uri="{FF2B5EF4-FFF2-40B4-BE49-F238E27FC236}">
                <a16:creationId xmlns:a16="http://schemas.microsoft.com/office/drawing/2014/main" id="{96EDA817-629A-4F71-A285-6E782E464EF0}"/>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10</a:t>
            </a:r>
          </a:p>
        </p:txBody>
      </p:sp>
    </p:spTree>
    <p:extLst>
      <p:ext uri="{BB962C8B-B14F-4D97-AF65-F5344CB8AC3E}">
        <p14:creationId xmlns:p14="http://schemas.microsoft.com/office/powerpoint/2010/main" val="1951228959"/>
      </p:ext>
    </p:extLst>
  </p:cSld>
</p:sld>
</file>

<file path=ppt/slides/slide11.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95A8203-940B-4B7F-A6C4-7F9243D806B6}"/>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Edit, Play, Pause и Stop</a:t>
            </a:r>
          </a:p>
        </p:txBody>
      </p:sp>
      <p:graphicFrame>
        <p:nvGraphicFramePr>
          <p:cNvPr id="2" name="">
            <a:extLst xmlns:a="http://schemas.openxmlformats.org/drawingml/2006/main">
              <a:ext uri="{FF2B5EF4-FFF2-40B4-BE49-F238E27FC236}">
                <a16:creationId xmlns:a16="http://schemas.microsoft.com/office/drawing/2014/main" id="{88F39267-F5E9-4B25-8109-822EE5CEA762}"/>
              </a:ext>
            </a:extLst>
          </p:cNvPr>
          <p:cNvGraphicFramePr/>
          <p:nvPr/>
        </p:nvGraphicFramePr>
        <p:xfrm>
          <a:off xmlns:a="http://schemas.openxmlformats.org/drawingml/2006/main" x="609600" y="1562100"/>
          <a:ext xmlns:a="http://schemas.openxmlformats.org/drawingml/2006/main" cx="10972800" cy="3543300"/>
        </p:xfrm>
        <a:graphic xmlns:a="http://schemas.openxmlformats.org/drawingml/2006/main">
          <a:graphicData uri="http://schemas.openxmlformats.org/drawingml/2006/table">
            <a:tbl>
              <a:tblPr/>
              <a:tblGrid>
                <a:gridCol w="4095750"/>
                <a:gridCol w="6877050"/>
              </a:tblGrid>
              <a:tr h="590550">
                <a:tc>
                  <a:txBody>
                    <a:bodyPr/>
                    <a:lstStyle/>
                    <a:p>
                      <a:r>
                        <a:rPr sz="1800" b="1">
                          <a:solidFill>
                            <a:srgbClr val="FFFFFF"/>
                          </a:solidFill>
                          <a:latin typeface="Arial"/>
                          <a:ea typeface="Arial"/>
                          <a:cs typeface="Arial"/>
                        </a:rPr>
                        <a:t>Режим / действие</a:t>
                      </a:r>
                    </a:p>
                  </a:txBody>
                  <a:tcPr marL="133350" marR="133350" marT="114300" marB="95250">
                    <a:lnL w="9525">
                      <a:solidFill>
                        <a:srgbClr val="D9E1E5"/>
                      </a:solidFill>
                      <a:prstDash val="solid"/>
                    </a:lnL>
                    <a:lnR w="9525">
                      <a:solidFill>
                        <a:srgbClr val="D9E1E5"/>
                      </a:solidFill>
                      <a:prstDash val="solid"/>
                    </a:lnR>
                    <a:lnT w="9525">
                      <a:solidFill>
                        <a:srgbClr val="D9E1E5"/>
                      </a:solidFill>
                      <a:prstDash val="solid"/>
                    </a:lnT>
                    <a:lnB w="9525">
                      <a:solidFill>
                        <a:srgbClr val="D9E1E5"/>
                      </a:solidFill>
                      <a:prstDash val="solid"/>
                    </a:lnB>
                    <a:solidFill>
                      <a:srgbClr val="13384A"/>
                    </a:solidFill>
                  </a:tcPr>
                </a:tc>
                <a:tc>
                  <a:txBody>
                    <a:bodyPr/>
                    <a:lstStyle/>
                    <a:p>
                      <a:r>
                        <a:rPr sz="1800" b="1">
                          <a:solidFill>
                            <a:srgbClr val="FFFFFF"/>
                          </a:solidFill>
                          <a:latin typeface="Arial"/>
                          <a:ea typeface="Arial"/>
                          <a:cs typeface="Arial"/>
                        </a:rPr>
                        <a:t>Поведение</a:t>
                      </a:r>
                    </a:p>
                  </a:txBody>
                  <a:tcPr marL="133350" marR="133350" marT="114300" marB="95250">
                    <a:lnR w="9525">
                      <a:solidFill>
                        <a:srgbClr val="D9E1E5"/>
                      </a:solidFill>
                      <a:prstDash val="solid"/>
                    </a:lnR>
                    <a:lnT w="9525">
                      <a:solidFill>
                        <a:srgbClr val="D9E1E5"/>
                      </a:solidFill>
                      <a:prstDash val="solid"/>
                    </a:lnT>
                    <a:lnB w="9525">
                      <a:solidFill>
                        <a:srgbClr val="D9E1E5"/>
                      </a:solidFill>
                      <a:prstDash val="solid"/>
                    </a:lnB>
                    <a:solidFill>
                      <a:srgbClr val="13384A"/>
                    </a:solidFill>
                  </a:tcPr>
                </a:tc>
              </a:tr>
              <a:tr h="590550">
                <a:tc>
                  <a:txBody>
                    <a:bodyPr/>
                    <a:lstStyle/>
                    <a:p>
                      <a:r>
                        <a:rPr sz="1800">
                          <a:solidFill>
                            <a:srgbClr val="243646"/>
                          </a:solidFill>
                          <a:latin typeface="Arial"/>
                          <a:ea typeface="Arial"/>
                          <a:cs typeface="Arial"/>
                        </a:rPr>
                        <a:t>Edit</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Редактирование рабочей сцены и свободная камера редактора</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Play</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Отдельная копия сцены, игровой контроллер и игровая камера</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Pause</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Приостановка симуляции и сброс активного игрового ввода</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Stop</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Возврат к рабочей сцене и камере редактора</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External / «Играть»</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Отдельный запуск игры по сохранённым данным проекта</a:t>
                      </a:r>
                    </a:p>
                  </a:txBody>
                  <a:tcPr marL="133350" marR="133350" marT="114300" marB="95250">
                    <a:lnR w="9525">
                      <a:solidFill>
                        <a:srgbClr val="D9E1E5"/>
                      </a:solidFill>
                      <a:prstDash val="solid"/>
                    </a:lnR>
                    <a:lnB w="9525">
                      <a:solidFill>
                        <a:srgbClr val="D9E1E5"/>
                      </a:solidFill>
                      <a:prstDash val="solid"/>
                    </a:lnB>
                    <a:solidFill>
                      <a:srgbClr val="F5F7F8"/>
                    </a:solidFill>
                  </a:tcPr>
                </a:tc>
              </a:tr>
            </a:tbl>
          </a:graphicData>
        </a:graphic>
      </p:graphicFrame>
      <p:sp>
        <p:nvSpPr>
          <p:cNvPr id="3" name="">
            <a:extLst xmlns:a="http://schemas.openxmlformats.org/drawingml/2006/main">
              <a:ext uri="{FF2B5EF4-FFF2-40B4-BE49-F238E27FC236}">
                <a16:creationId xmlns:a16="http://schemas.microsoft.com/office/drawing/2014/main" id="{4A63314F-C0F9-41AD-9615-D96D4FB74578}"/>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В viewport: Space переключает Play / Stop, P переключает Pause / Resume.</a:t>
            </a:r>
          </a:p>
        </p:txBody>
      </p:sp>
      <p:sp>
        <p:nvSpPr>
          <p:cNvPr id="4" name="">
            <a:extLst xmlns:a="http://schemas.openxmlformats.org/drawingml/2006/main">
              <a:ext uri="{FF2B5EF4-FFF2-40B4-BE49-F238E27FC236}">
                <a16:creationId xmlns:a16="http://schemas.microsoft.com/office/drawing/2014/main" id="{F09C3916-8405-4ED2-93C4-EF95A10FE96C}"/>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11</a:t>
            </a:r>
          </a:p>
        </p:txBody>
      </p:sp>
    </p:spTree>
    <p:extLst>
      <p:ext uri="{BB962C8B-B14F-4D97-AF65-F5344CB8AC3E}">
        <p14:creationId xmlns:p14="http://schemas.microsoft.com/office/powerpoint/2010/main" val="209395898"/>
      </p:ext>
    </p:extLst>
  </p:cSld>
</p:sld>
</file>

<file path=ppt/slides/slide1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91CB083-F8EF-414D-8E90-3E6A4D98D037}"/>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Первый пробный запуск</a:t>
            </a:r>
          </a:p>
        </p:txBody>
      </p:sp>
      <p:sp>
        <p:nvSpPr>
          <p:cNvPr id="2" name="">
            <a:extLst xmlns:a="http://schemas.openxmlformats.org/drawingml/2006/main">
              <a:ext uri="{FF2B5EF4-FFF2-40B4-BE49-F238E27FC236}">
                <a16:creationId xmlns:a16="http://schemas.microsoft.com/office/drawing/2014/main" id="{4959A664-62E5-48BB-87E1-377364EA1DC6}"/>
              </a:ext>
            </a:extLst>
          </p:cNvPr>
          <p:cNvSpPr>
            <a:spLocks xmlns:a="http://schemas.openxmlformats.org/drawingml/2006/main" noGrp="1"/>
          </p:cNvSpPr>
          <p:nvPr/>
        </p:nvSpPr>
        <p:spPr>
          <a:xfrm xmlns:a="http://schemas.openxmlformats.org/drawingml/2006/main">
            <a:off x="609600" y="1666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До Play</a:t>
            </a:r>
          </a:p>
        </p:txBody>
      </p:sp>
      <p:sp>
        <p:nvSpPr>
          <p:cNvPr id="3" name="">
            <a:extLst xmlns:a="http://schemas.openxmlformats.org/drawingml/2006/main">
              <a:ext uri="{FF2B5EF4-FFF2-40B4-BE49-F238E27FC236}">
                <a16:creationId xmlns:a16="http://schemas.microsoft.com/office/drawing/2014/main" id="{83DA30A1-2E78-4220-AF3E-BD695B30A0F8}"/>
              </a:ext>
            </a:extLst>
          </p:cNvPr>
          <p:cNvSpPr>
            <a:spLocks xmlns:a="http://schemas.openxmlformats.org/drawingml/2006/main" noGrp="1"/>
          </p:cNvSpPr>
          <p:nvPr/>
        </p:nvSpPr>
        <p:spPr>
          <a:xfrm xmlns:a="http://schemas.openxmlformats.org/drawingml/2006/main">
            <a:off x="4191000" y="1695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Есть пол и персонаж. В настройках Play выбран персонаж и включено стандартное управление.</a:t>
            </a:r>
          </a:p>
        </p:txBody>
      </p:sp>
      <p:sp>
        <p:nvSpPr>
          <p:cNvPr id="4" name="">
            <a:extLst xmlns:a="http://schemas.openxmlformats.org/drawingml/2006/main">
              <a:ext uri="{FF2B5EF4-FFF2-40B4-BE49-F238E27FC236}">
                <a16:creationId xmlns:a16="http://schemas.microsoft.com/office/drawing/2014/main" id="{5B1D2FA8-8F25-471C-B31F-2C6A9BCC9810}"/>
              </a:ext>
            </a:extLst>
          </p:cNvPr>
          <p:cNvSpPr>
            <a:spLocks xmlns:a="http://schemas.openxmlformats.org/drawingml/2006/main" noGrp="1"/>
          </p:cNvSpPr>
          <p:nvPr/>
        </p:nvSpPr>
        <p:spPr>
          <a:xfrm xmlns:a="http://schemas.openxmlformats.org/drawingml/2006/main">
            <a:off x="609600" y="30003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Во время Play</a:t>
            </a:r>
          </a:p>
        </p:txBody>
      </p:sp>
      <p:sp>
        <p:nvSpPr>
          <p:cNvPr id="5" name="">
            <a:extLst xmlns:a="http://schemas.openxmlformats.org/drawingml/2006/main">
              <a:ext uri="{FF2B5EF4-FFF2-40B4-BE49-F238E27FC236}">
                <a16:creationId xmlns:a16="http://schemas.microsoft.com/office/drawing/2014/main" id="{49F8ADA5-6DED-4934-8CF4-6016A9919D8B}"/>
              </a:ext>
            </a:extLst>
          </p:cNvPr>
          <p:cNvSpPr>
            <a:spLocks xmlns:a="http://schemas.openxmlformats.org/drawingml/2006/main" noGrp="1"/>
          </p:cNvSpPr>
          <p:nvPr/>
        </p:nvSpPr>
        <p:spPr>
          <a:xfrm xmlns:a="http://schemas.openxmlformats.org/drawingml/2006/main">
            <a:off x="4191000" y="30289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Щёлкните viewport. Проверьте WASD, обзор с ПКМ и паузу клавишей P.</a:t>
            </a:r>
          </a:p>
        </p:txBody>
      </p:sp>
      <p:sp>
        <p:nvSpPr>
          <p:cNvPr id="6" name="">
            <a:extLst xmlns:a="http://schemas.openxmlformats.org/drawingml/2006/main">
              <a:ext uri="{FF2B5EF4-FFF2-40B4-BE49-F238E27FC236}">
                <a16:creationId xmlns:a16="http://schemas.microsoft.com/office/drawing/2014/main" id="{ED64EC10-2FD2-45C2-9217-B99B8127106E}"/>
              </a:ext>
            </a:extLst>
          </p:cNvPr>
          <p:cNvSpPr>
            <a:spLocks xmlns:a="http://schemas.openxmlformats.org/drawingml/2006/main" noGrp="1"/>
          </p:cNvSpPr>
          <p:nvPr/>
        </p:nvSpPr>
        <p:spPr>
          <a:xfrm xmlns:a="http://schemas.openxmlformats.org/drawingml/2006/main">
            <a:off x="609600" y="4333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После Stop</a:t>
            </a:r>
          </a:p>
        </p:txBody>
      </p:sp>
      <p:sp>
        <p:nvSpPr>
          <p:cNvPr id="7" name="">
            <a:extLst xmlns:a="http://schemas.openxmlformats.org/drawingml/2006/main">
              <a:ext uri="{FF2B5EF4-FFF2-40B4-BE49-F238E27FC236}">
                <a16:creationId xmlns:a16="http://schemas.microsoft.com/office/drawing/2014/main" id="{CCE0F629-0FCC-4A84-A11F-CB0D871FACEE}"/>
              </a:ext>
            </a:extLst>
          </p:cNvPr>
          <p:cNvSpPr>
            <a:spLocks xmlns:a="http://schemas.openxmlformats.org/drawingml/2006/main" noGrp="1"/>
          </p:cNvSpPr>
          <p:nvPr/>
        </p:nvSpPr>
        <p:spPr>
          <a:xfrm xmlns:a="http://schemas.openxmlformats.org/drawingml/2006/main">
            <a:off x="4191000" y="4362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Персонаж вернулся к сохранённой для Edit позиции. Редактор показывает свою камеру.</a:t>
            </a:r>
          </a:p>
        </p:txBody>
      </p:sp>
      <p:sp>
        <p:nvSpPr>
          <p:cNvPr id="8" name="">
            <a:extLst xmlns:a="http://schemas.openxmlformats.org/drawingml/2006/main">
              <a:ext uri="{FF2B5EF4-FFF2-40B4-BE49-F238E27FC236}">
                <a16:creationId xmlns:a16="http://schemas.microsoft.com/office/drawing/2014/main" id="{4103DE9C-8D6F-4ECA-9190-43F68A6885A8}"/>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Если движения нет: проверьте фокус, Pause, назначение персонажа и флажок управления.</a:t>
            </a:r>
          </a:p>
        </p:txBody>
      </p:sp>
      <p:sp>
        <p:nvSpPr>
          <p:cNvPr id="9" name="">
            <a:extLst xmlns:a="http://schemas.openxmlformats.org/drawingml/2006/main">
              <a:ext uri="{FF2B5EF4-FFF2-40B4-BE49-F238E27FC236}">
                <a16:creationId xmlns:a16="http://schemas.microsoft.com/office/drawing/2014/main" id="{FA2D7BDC-9024-48CB-9AA6-EC9EA8C37172}"/>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12</a:t>
            </a:r>
          </a:p>
        </p:txBody>
      </p:sp>
    </p:spTree>
    <p:extLst>
      <p:ext uri="{BB962C8B-B14F-4D97-AF65-F5344CB8AC3E}">
        <p14:creationId xmlns:p14="http://schemas.microsoft.com/office/powerpoint/2010/main" val="390979550"/>
      </p:ext>
    </p:extLst>
  </p:cSld>
</p:sld>
</file>

<file path=ppt/slides/slide1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62E14F6-7A61-4709-B8DC-A8CDC0E25DFE}"/>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Сохранение и структура проекта</a:t>
            </a:r>
          </a:p>
        </p:txBody>
      </p:sp>
      <p:graphicFrame>
        <p:nvGraphicFramePr>
          <p:cNvPr id="2" name="">
            <a:extLst xmlns:a="http://schemas.openxmlformats.org/drawingml/2006/main">
              <a:ext uri="{FF2B5EF4-FFF2-40B4-BE49-F238E27FC236}">
                <a16:creationId xmlns:a16="http://schemas.microsoft.com/office/drawing/2014/main" id="{E33AD57A-90AF-4592-BFB5-52CFA5FE169A}"/>
              </a:ext>
            </a:extLst>
          </p:cNvPr>
          <p:cNvGraphicFramePr/>
          <p:nvPr/>
        </p:nvGraphicFramePr>
        <p:xfrm>
          <a:off xmlns:a="http://schemas.openxmlformats.org/drawingml/2006/main" x="609600" y="1562100"/>
          <a:ext xmlns:a="http://schemas.openxmlformats.org/drawingml/2006/main" cx="10972800" cy="4133850"/>
        </p:xfrm>
        <a:graphic xmlns:a="http://schemas.openxmlformats.org/drawingml/2006/main">
          <a:graphicData uri="http://schemas.openxmlformats.org/drawingml/2006/table">
            <a:tbl>
              <a:tblPr/>
              <a:tblGrid>
                <a:gridCol w="4095750"/>
                <a:gridCol w="6877050"/>
              </a:tblGrid>
              <a:tr h="590550">
                <a:tc>
                  <a:txBody>
                    <a:bodyPr/>
                    <a:lstStyle/>
                    <a:p>
                      <a:r>
                        <a:rPr sz="1800" b="1">
                          <a:solidFill>
                            <a:srgbClr val="FFFFFF"/>
                          </a:solidFill>
                          <a:latin typeface="Arial"/>
                          <a:ea typeface="Arial"/>
                          <a:cs typeface="Arial"/>
                        </a:rPr>
                        <a:t>Файл / папка</a:t>
                      </a:r>
                    </a:p>
                  </a:txBody>
                  <a:tcPr marL="133350" marR="133350" marT="114300" marB="95250">
                    <a:lnL w="9525">
                      <a:solidFill>
                        <a:srgbClr val="D9E1E5"/>
                      </a:solidFill>
                      <a:prstDash val="solid"/>
                    </a:lnL>
                    <a:lnR w="9525">
                      <a:solidFill>
                        <a:srgbClr val="D9E1E5"/>
                      </a:solidFill>
                      <a:prstDash val="solid"/>
                    </a:lnR>
                    <a:lnT w="9525">
                      <a:solidFill>
                        <a:srgbClr val="D9E1E5"/>
                      </a:solidFill>
                      <a:prstDash val="solid"/>
                    </a:lnT>
                    <a:lnB w="9525">
                      <a:solidFill>
                        <a:srgbClr val="D9E1E5"/>
                      </a:solidFill>
                      <a:prstDash val="solid"/>
                    </a:lnB>
                    <a:solidFill>
                      <a:srgbClr val="13384A"/>
                    </a:solidFill>
                  </a:tcPr>
                </a:tc>
                <a:tc>
                  <a:txBody>
                    <a:bodyPr/>
                    <a:lstStyle/>
                    <a:p>
                      <a:r>
                        <a:rPr sz="1800" b="1">
                          <a:solidFill>
                            <a:srgbClr val="FFFFFF"/>
                          </a:solidFill>
                          <a:latin typeface="Arial"/>
                          <a:ea typeface="Arial"/>
                          <a:cs typeface="Arial"/>
                        </a:rPr>
                        <a:t>Назначение</a:t>
                      </a:r>
                    </a:p>
                  </a:txBody>
                  <a:tcPr marL="133350" marR="133350" marT="114300" marB="95250">
                    <a:lnR w="9525">
                      <a:solidFill>
                        <a:srgbClr val="D9E1E5"/>
                      </a:solidFill>
                      <a:prstDash val="solid"/>
                    </a:lnR>
                    <a:lnT w="9525">
                      <a:solidFill>
                        <a:srgbClr val="D9E1E5"/>
                      </a:solidFill>
                      <a:prstDash val="solid"/>
                    </a:lnT>
                    <a:lnB w="9525">
                      <a:solidFill>
                        <a:srgbClr val="D9E1E5"/>
                      </a:solidFill>
                      <a:prstDash val="solid"/>
                    </a:lnB>
                    <a:solidFill>
                      <a:srgbClr val="13384A"/>
                    </a:solidFill>
                  </a:tcPr>
                </a:tc>
              </a:tr>
              <a:tr h="590550">
                <a:tc>
                  <a:txBody>
                    <a:bodyPr/>
                    <a:lstStyle/>
                    <a:p>
                      <a:r>
                        <a:rPr sz="1800">
                          <a:solidFill>
                            <a:srgbClr val="243646"/>
                          </a:solidFill>
                          <a:latin typeface="Arial"/>
                          <a:ea typeface="Arial"/>
                          <a:cs typeface="Arial"/>
                        </a:rPr>
                        <a:t>Project.json</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Пути к модулю, Content и стартовой сцене</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Engine.lock.json</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Закреплённая версия и конфигурация движка</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Content/Scenes</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Сцены с объектами, трансформациями и настройками Play</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Content/Models, Content/Textures</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Ресурсы проекта</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Source и Build.ps1</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Код и запуск сборки C++ проекта</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Binaries</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Собранные версии DLL проекта</a:t>
                      </a:r>
                    </a:p>
                  </a:txBody>
                  <a:tcPr marL="133350" marR="133350" marT="114300" marB="95250">
                    <a:lnR w="9525">
                      <a:solidFill>
                        <a:srgbClr val="D9E1E5"/>
                      </a:solidFill>
                      <a:prstDash val="solid"/>
                    </a:lnR>
                    <a:lnB w="9525">
                      <a:solidFill>
                        <a:srgbClr val="D9E1E5"/>
                      </a:solidFill>
                      <a:prstDash val="solid"/>
                    </a:lnB>
                    <a:solidFill>
                      <a:srgbClr val="F5F7F8"/>
                    </a:solidFill>
                  </a:tcPr>
                </a:tc>
              </a:tr>
            </a:tbl>
          </a:graphicData>
        </a:graphic>
      </p:graphicFrame>
      <p:sp>
        <p:nvSpPr>
          <p:cNvPr id="3" name="">
            <a:extLst xmlns:a="http://schemas.openxmlformats.org/drawingml/2006/main">
              <a:ext uri="{FF2B5EF4-FFF2-40B4-BE49-F238E27FC236}">
                <a16:creationId xmlns:a16="http://schemas.microsoft.com/office/drawing/2014/main" id="{05E96430-4A72-47D0-A041-172B0CF3B85F}"/>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Ctrl+S: «Сохранить и сделать стартовой». Для переноса сохраняйте всю папку проекта.</a:t>
            </a:r>
          </a:p>
        </p:txBody>
      </p:sp>
      <p:sp>
        <p:nvSpPr>
          <p:cNvPr id="4" name="">
            <a:extLst xmlns:a="http://schemas.openxmlformats.org/drawingml/2006/main">
              <a:ext uri="{FF2B5EF4-FFF2-40B4-BE49-F238E27FC236}">
                <a16:creationId xmlns:a16="http://schemas.microsoft.com/office/drawing/2014/main" id="{6021731E-32EF-4020-AD5B-F3626E75BABE}"/>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13</a:t>
            </a:r>
          </a:p>
        </p:txBody>
      </p:sp>
    </p:spTree>
    <p:extLst>
      <p:ext uri="{BB962C8B-B14F-4D97-AF65-F5344CB8AC3E}">
        <p14:creationId xmlns:p14="http://schemas.microsoft.com/office/powerpoint/2010/main" val="1577286025"/>
      </p:ext>
    </p:extLst>
  </p:cSld>
</p:sld>
</file>

<file path=ppt/slides/slide14.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8E3B5BC-F2EF-4DBB-9D80-F4AEE5CE2BCD}"/>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Граница между редактором и C++</a:t>
            </a:r>
          </a:p>
        </p:txBody>
      </p:sp>
      <p:graphicFrame>
        <p:nvGraphicFramePr>
          <p:cNvPr id="2" name="">
            <a:extLst xmlns:a="http://schemas.openxmlformats.org/drawingml/2006/main">
              <a:ext uri="{FF2B5EF4-FFF2-40B4-BE49-F238E27FC236}">
                <a16:creationId xmlns:a16="http://schemas.microsoft.com/office/drawing/2014/main" id="{91799D54-D5D3-4658-B66A-2543553EF3EB}"/>
              </a:ext>
            </a:extLst>
          </p:cNvPr>
          <p:cNvGraphicFramePr/>
          <p:nvPr/>
        </p:nvGraphicFramePr>
        <p:xfrm>
          <a:off xmlns:a="http://schemas.openxmlformats.org/drawingml/2006/main" x="609600" y="1562100"/>
          <a:ext xmlns:a="http://schemas.openxmlformats.org/drawingml/2006/main" cx="10972800" cy="3543300"/>
        </p:xfrm>
        <a:graphic xmlns:a="http://schemas.openxmlformats.org/drawingml/2006/main">
          <a:graphicData uri="http://schemas.openxmlformats.org/drawingml/2006/table">
            <a:tbl>
              <a:tblPr/>
              <a:tblGrid>
                <a:gridCol w="2571750"/>
                <a:gridCol w="3810000"/>
                <a:gridCol w="4591050"/>
              </a:tblGrid>
              <a:tr h="590550">
                <a:tc>
                  <a:txBody>
                    <a:bodyPr/>
                    <a:lstStyle/>
                    <a:p>
                      <a:r>
                        <a:rPr sz="1800" b="1">
                          <a:solidFill>
                            <a:srgbClr val="FFFFFF"/>
                          </a:solidFill>
                          <a:latin typeface="Arial"/>
                          <a:ea typeface="Arial"/>
                          <a:cs typeface="Arial"/>
                        </a:rPr>
                        <a:t>Задача</a:t>
                      </a:r>
                    </a:p>
                  </a:txBody>
                  <a:tcPr marL="133350" marR="133350" marT="114300" marB="95250">
                    <a:lnL w="9525">
                      <a:solidFill>
                        <a:srgbClr val="D9E1E5"/>
                      </a:solidFill>
                      <a:prstDash val="solid"/>
                    </a:lnL>
                    <a:lnR w="9525">
                      <a:solidFill>
                        <a:srgbClr val="D9E1E5"/>
                      </a:solidFill>
                      <a:prstDash val="solid"/>
                    </a:lnR>
                    <a:lnT w="9525">
                      <a:solidFill>
                        <a:srgbClr val="D9E1E5"/>
                      </a:solidFill>
                      <a:prstDash val="solid"/>
                    </a:lnT>
                    <a:lnB w="9525">
                      <a:solidFill>
                        <a:srgbClr val="D9E1E5"/>
                      </a:solidFill>
                      <a:prstDash val="solid"/>
                    </a:lnB>
                    <a:solidFill>
                      <a:srgbClr val="13384A"/>
                    </a:solidFill>
                  </a:tcPr>
                </a:tc>
                <a:tc>
                  <a:txBody>
                    <a:bodyPr/>
                    <a:lstStyle/>
                    <a:p>
                      <a:r>
                        <a:rPr sz="1800" b="1">
                          <a:solidFill>
                            <a:srgbClr val="FFFFFF"/>
                          </a:solidFill>
                          <a:latin typeface="Arial"/>
                          <a:ea typeface="Arial"/>
                          <a:cs typeface="Arial"/>
                        </a:rPr>
                        <a:t>Без кода</a:t>
                      </a:r>
                    </a:p>
                  </a:txBody>
                  <a:tcPr marL="133350" marR="133350" marT="114300" marB="95250">
                    <a:lnR w="9525">
                      <a:solidFill>
                        <a:srgbClr val="D9E1E5"/>
                      </a:solidFill>
                      <a:prstDash val="solid"/>
                    </a:lnR>
                    <a:lnT w="9525">
                      <a:solidFill>
                        <a:srgbClr val="D9E1E5"/>
                      </a:solidFill>
                      <a:prstDash val="solid"/>
                    </a:lnT>
                    <a:lnB w="9525">
                      <a:solidFill>
                        <a:srgbClr val="D9E1E5"/>
                      </a:solidFill>
                      <a:prstDash val="solid"/>
                    </a:lnB>
                    <a:solidFill>
                      <a:srgbClr val="13384A"/>
                    </a:solidFill>
                  </a:tcPr>
                </a:tc>
                <a:tc>
                  <a:txBody>
                    <a:bodyPr/>
                    <a:lstStyle/>
                    <a:p>
                      <a:r>
                        <a:rPr sz="1800" b="1">
                          <a:solidFill>
                            <a:srgbClr val="FFFFFF"/>
                          </a:solidFill>
                          <a:latin typeface="Arial"/>
                          <a:ea typeface="Arial"/>
                          <a:cs typeface="Arial"/>
                        </a:rPr>
                        <a:t>Через SDK / C++</a:t>
                      </a:r>
                    </a:p>
                  </a:txBody>
                  <a:tcPr marL="133350" marR="133350" marT="114300" marB="95250">
                    <a:lnR w="9525">
                      <a:solidFill>
                        <a:srgbClr val="D9E1E5"/>
                      </a:solidFill>
                      <a:prstDash val="solid"/>
                    </a:lnR>
                    <a:lnT w="9525">
                      <a:solidFill>
                        <a:srgbClr val="D9E1E5"/>
                      </a:solidFill>
                      <a:prstDash val="solid"/>
                    </a:lnT>
                    <a:lnB w="9525">
                      <a:solidFill>
                        <a:srgbClr val="D9E1E5"/>
                      </a:solidFill>
                      <a:prstDash val="solid"/>
                    </a:lnB>
                    <a:solidFill>
                      <a:srgbClr val="13384A"/>
                    </a:solidFill>
                  </a:tcPr>
                </a:tc>
              </a:tr>
              <a:tr h="590550">
                <a:tc>
                  <a:txBody>
                    <a:bodyPr/>
                    <a:lstStyle/>
                    <a:p>
                      <a:r>
                        <a:rPr sz="1800">
                          <a:solidFill>
                            <a:srgbClr val="243646"/>
                          </a:solidFill>
                          <a:latin typeface="Arial"/>
                          <a:ea typeface="Arial"/>
                          <a:cs typeface="Arial"/>
                        </a:rPr>
                        <a:t>Сцена и оформление</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Объекты, модели, свет, эффекты</a:t>
                      </a:r>
                    </a:p>
                  </a:txBody>
                  <a:tcPr marL="133350" marR="133350" marT="114300" marB="95250">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Свои компоненты и данные</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Персонаж</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Трансформация и скорость</a:t>
                      </a:r>
                    </a:p>
                  </a:txBody>
                  <a:tcPr marL="133350" marR="133350" marT="114300" marB="95250">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Свой Character и поведение</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Камера Play</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Слежение или отдельная камера</a:t>
                      </a:r>
                    </a:p>
                  </a:txBody>
                  <a:tcPr marL="133350" marR="133350" marT="114300" marB="95250">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Свой UpdateCamera / SceneCamera</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Управление</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Стандартные WASD и ПКМ</a:t>
                      </a:r>
                    </a:p>
                  </a:txBody>
                  <a:tcPr marL="133350" marR="133350" marT="114300" marB="95250">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Действия, сочетания, обработчики</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Каталог объектов</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Встроенные типы</a:t>
                      </a:r>
                    </a:p>
                  </a:txBody>
                  <a:tcPr marL="133350" marR="133350" marT="114300" marB="95250">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Регистрация своих классов</a:t>
                      </a:r>
                    </a:p>
                  </a:txBody>
                  <a:tcPr marL="133350" marR="133350" marT="114300" marB="95250">
                    <a:lnR w="9525">
                      <a:solidFill>
                        <a:srgbClr val="D9E1E5"/>
                      </a:solidFill>
                      <a:prstDash val="solid"/>
                    </a:lnR>
                    <a:lnB w="9525">
                      <a:solidFill>
                        <a:srgbClr val="D9E1E5"/>
                      </a:solidFill>
                      <a:prstDash val="solid"/>
                    </a:lnB>
                    <a:solidFill>
                      <a:srgbClr val="F5F7F8"/>
                    </a:solidFill>
                  </a:tcPr>
                </a:tc>
              </a:tr>
            </a:tbl>
          </a:graphicData>
        </a:graphic>
      </p:graphicFrame>
      <p:sp>
        <p:nvSpPr>
          <p:cNvPr id="3" name="">
            <a:extLst xmlns:a="http://schemas.openxmlformats.org/drawingml/2006/main">
              <a:ext uri="{FF2B5EF4-FFF2-40B4-BE49-F238E27FC236}">
                <a16:creationId xmlns:a16="http://schemas.microsoft.com/office/drawing/2014/main" id="{3A308ED6-961A-4D49-A4FA-00C347D717F1}"/>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Контроллер создаётся игрой и не является отдельным добавляемым объектом сцены.</a:t>
            </a:r>
          </a:p>
        </p:txBody>
      </p:sp>
      <p:sp>
        <p:nvSpPr>
          <p:cNvPr id="4" name="">
            <a:extLst xmlns:a="http://schemas.openxmlformats.org/drawingml/2006/main">
              <a:ext uri="{FF2B5EF4-FFF2-40B4-BE49-F238E27FC236}">
                <a16:creationId xmlns:a16="http://schemas.microsoft.com/office/drawing/2014/main" id="{6AEF7239-CB55-4019-9187-1A6FD58F240D}"/>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14</a:t>
            </a:r>
          </a:p>
        </p:txBody>
      </p:sp>
    </p:spTree>
    <p:extLst>
      <p:ext uri="{BB962C8B-B14F-4D97-AF65-F5344CB8AC3E}">
        <p14:creationId xmlns:p14="http://schemas.microsoft.com/office/powerpoint/2010/main" val="1040742638"/>
      </p:ext>
    </p:extLst>
  </p:cSld>
</p:sld>
</file>

<file path=ppt/slides/slide15.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FEE9B32-4635-4D43-8868-67F449885FB6}"/>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Создание C++ класса</a:t>
            </a:r>
          </a:p>
        </p:txBody>
      </p:sp>
      <p:sp>
        <p:nvSpPr>
          <p:cNvPr id="2" name="">
            <a:extLst xmlns:a="http://schemas.openxmlformats.org/drawingml/2006/main">
              <a:ext uri="{FF2B5EF4-FFF2-40B4-BE49-F238E27FC236}">
                <a16:creationId xmlns:a16="http://schemas.microsoft.com/office/drawing/2014/main" id="{D19A98F9-B01A-44AE-B659-AF1786E27EEA}"/>
              </a:ext>
            </a:extLst>
          </p:cNvPr>
          <p:cNvSpPr>
            <a:spLocks xmlns:a="http://schemas.openxmlformats.org/drawingml/2006/main" noGrp="1"/>
          </p:cNvSpPr>
          <p:nvPr/>
        </p:nvSpPr>
        <p:spPr>
          <a:xfrm xmlns:a="http://schemas.openxmlformats.org/drawingml/2006/main">
            <a:off x="609600" y="1666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1. Подключение кода</a:t>
            </a:r>
          </a:p>
        </p:txBody>
      </p:sp>
      <p:sp>
        <p:nvSpPr>
          <p:cNvPr id="3" name="">
            <a:extLst xmlns:a="http://schemas.openxmlformats.org/drawingml/2006/main">
              <a:ext uri="{FF2B5EF4-FFF2-40B4-BE49-F238E27FC236}">
                <a16:creationId xmlns:a16="http://schemas.microsoft.com/office/drawing/2014/main" id="{E947701B-63FB-49DD-AA88-295BD7A05993}"/>
              </a:ext>
            </a:extLst>
          </p:cNvPr>
          <p:cNvSpPr>
            <a:spLocks xmlns:a="http://schemas.openxmlformats.org/drawingml/2006/main" noGrp="1"/>
          </p:cNvSpPr>
          <p:nvPr/>
        </p:nvSpPr>
        <p:spPr>
          <a:xfrm xmlns:a="http://schemas.openxmlformats.org/drawingml/2006/main">
            <a:off x="4191000" y="1695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«Проект / C++»: «Добавить C++ в проект…». Нужны Visual Studio C++ tools и Windows SDK.</a:t>
            </a:r>
          </a:p>
        </p:txBody>
      </p:sp>
      <p:sp>
        <p:nvSpPr>
          <p:cNvPr id="4" name="">
            <a:extLst xmlns:a="http://schemas.openxmlformats.org/drawingml/2006/main">
              <a:ext uri="{FF2B5EF4-FFF2-40B4-BE49-F238E27FC236}">
                <a16:creationId xmlns:a16="http://schemas.microsoft.com/office/drawing/2014/main" id="{B708B623-A963-4F5C-B7BD-FB23776B55DA}"/>
              </a:ext>
            </a:extLst>
          </p:cNvPr>
          <p:cNvSpPr>
            <a:spLocks xmlns:a="http://schemas.openxmlformats.org/drawingml/2006/main" noGrp="1"/>
          </p:cNvSpPr>
          <p:nvPr/>
        </p:nvSpPr>
        <p:spPr>
          <a:xfrm xmlns:a="http://schemas.openxmlformats.org/drawingml/2006/main">
            <a:off x="609600" y="30003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2. Мастер класса</a:t>
            </a:r>
          </a:p>
        </p:txBody>
      </p:sp>
      <p:sp>
        <p:nvSpPr>
          <p:cNvPr id="5" name="">
            <a:extLst xmlns:a="http://schemas.openxmlformats.org/drawingml/2006/main">
              <a:ext uri="{FF2B5EF4-FFF2-40B4-BE49-F238E27FC236}">
                <a16:creationId xmlns:a16="http://schemas.microsoft.com/office/drawing/2014/main" id="{668419CA-1D71-455D-AE4A-28345128ADEE}"/>
              </a:ext>
            </a:extLst>
          </p:cNvPr>
          <p:cNvSpPr>
            <a:spLocks xmlns:a="http://schemas.openxmlformats.org/drawingml/2006/main" noGrp="1"/>
          </p:cNvSpPr>
          <p:nvPr/>
        </p:nvSpPr>
        <p:spPr>
          <a:xfrm xmlns:a="http://schemas.openxmlformats.org/drawingml/2006/main">
            <a:off x="4191000" y="30289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«Добавить C++ класс…». Выберите Character, Component, Game или Object и задайте имя.</a:t>
            </a:r>
          </a:p>
        </p:txBody>
      </p:sp>
      <p:sp>
        <p:nvSpPr>
          <p:cNvPr id="6" name="">
            <a:extLst xmlns:a="http://schemas.openxmlformats.org/drawingml/2006/main">
              <a:ext uri="{FF2B5EF4-FFF2-40B4-BE49-F238E27FC236}">
                <a16:creationId xmlns:a16="http://schemas.microsoft.com/office/drawing/2014/main" id="{B5B6E4A2-3EFB-43F5-B365-0BF810E122EA}"/>
              </a:ext>
            </a:extLst>
          </p:cNvPr>
          <p:cNvSpPr>
            <a:spLocks xmlns:a="http://schemas.openxmlformats.org/drawingml/2006/main" noGrp="1"/>
          </p:cNvSpPr>
          <p:nvPr/>
        </p:nvSpPr>
        <p:spPr>
          <a:xfrm xmlns:a="http://schemas.openxmlformats.org/drawingml/2006/main">
            <a:off x="609600" y="4333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3. Сборка</a:t>
            </a:r>
          </a:p>
        </p:txBody>
      </p:sp>
      <p:sp>
        <p:nvSpPr>
          <p:cNvPr id="7" name="">
            <a:extLst xmlns:a="http://schemas.openxmlformats.org/drawingml/2006/main">
              <a:ext uri="{FF2B5EF4-FFF2-40B4-BE49-F238E27FC236}">
                <a16:creationId xmlns:a16="http://schemas.microsoft.com/office/drawing/2014/main" id="{D13E5985-C7C8-4DE4-83BB-A8714A3091A8}"/>
              </a:ext>
            </a:extLst>
          </p:cNvPr>
          <p:cNvSpPr>
            <a:spLocks xmlns:a="http://schemas.openxmlformats.org/drawingml/2006/main" noGrp="1"/>
          </p:cNvSpPr>
          <p:nvPr/>
        </p:nvSpPr>
        <p:spPr>
          <a:xfrm xmlns:a="http://schemas.openxmlformats.org/drawingml/2006/main">
            <a:off x="4191000" y="4362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«Собрать и открыть заново». После успешной проверки класс появится в доступном ему каталоге.</a:t>
            </a:r>
          </a:p>
        </p:txBody>
      </p:sp>
      <p:sp>
        <p:nvSpPr>
          <p:cNvPr id="8" name="">
            <a:extLst xmlns:a="http://schemas.openxmlformats.org/drawingml/2006/main">
              <a:ext uri="{FF2B5EF4-FFF2-40B4-BE49-F238E27FC236}">
                <a16:creationId xmlns:a16="http://schemas.microsoft.com/office/drawing/2014/main" id="{B364DCCC-7FD7-4EE4-8DBD-1C868DBF8E64}"/>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Допустимо: Character5454. Недопустимо: 5454, «Мой герой», Hero.h. Имя класса начинается с буквы или _.</a:t>
            </a:r>
          </a:p>
        </p:txBody>
      </p:sp>
      <p:sp>
        <p:nvSpPr>
          <p:cNvPr id="9" name="">
            <a:extLst xmlns:a="http://schemas.openxmlformats.org/drawingml/2006/main">
              <a:ext uri="{FF2B5EF4-FFF2-40B4-BE49-F238E27FC236}">
                <a16:creationId xmlns:a16="http://schemas.microsoft.com/office/drawing/2014/main" id="{FBB59684-1491-48BC-91CB-B58C9DDE0454}"/>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15</a:t>
            </a:r>
          </a:p>
        </p:txBody>
      </p:sp>
    </p:spTree>
    <p:extLst>
      <p:ext uri="{BB962C8B-B14F-4D97-AF65-F5344CB8AC3E}">
        <p14:creationId xmlns:p14="http://schemas.microsoft.com/office/powerpoint/2010/main" val="990737589"/>
      </p:ext>
    </p:extLst>
  </p:cSld>
</p:sld>
</file>

<file path=ppt/slides/slide16.xml><?xml version="1.0" encoding="utf-8"?>
<p:sld xmlns:p="http://schemas.openxmlformats.org/presentationml/2006/main">
  <p:cSld>
    <p:bg>
      <p:bgPr>
        <a:solidFill xmlns:a="http://schemas.openxmlformats.org/drawingml/2006/main">
          <a:srgbClr val="101C2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89E9735-21A4-4A84-B671-26A35CB4FEEE}"/>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9FA"/>
                </a:solidFill>
                <a:latin typeface="Arial"/>
                <a:ea typeface="Arial"/>
                <a:cs typeface="Arial"/>
              </a:defRPr>
            </a:defPPr>
            <a:lvl1pPr>
              <a:defRPr sz="3300" b="1">
                <a:solidFill>
                  <a:srgbClr val="F5F9FA"/>
                </a:solidFill>
                <a:latin typeface="Arial"/>
                <a:ea typeface="Arial"/>
                <a:cs typeface="Arial"/>
              </a:defRPr>
            </a:lvl1pPr>
            <a:lvl2pPr>
              <a:defRPr sz="3300" b="1">
                <a:solidFill>
                  <a:srgbClr val="F5F9FA"/>
                </a:solidFill>
                <a:latin typeface="Arial"/>
                <a:ea typeface="Arial"/>
                <a:cs typeface="Arial"/>
              </a:defRPr>
            </a:lvl2pPr>
            <a:lvl3pPr>
              <a:defRPr sz="3300" b="1">
                <a:solidFill>
                  <a:srgbClr val="F5F9FA"/>
                </a:solidFill>
                <a:latin typeface="Arial"/>
                <a:ea typeface="Arial"/>
                <a:cs typeface="Arial"/>
              </a:defRPr>
            </a:lvl3pPr>
            <a:lvl4pPr>
              <a:defRPr sz="3300" b="1">
                <a:solidFill>
                  <a:srgbClr val="F5F9FA"/>
                </a:solidFill>
                <a:latin typeface="Arial"/>
                <a:ea typeface="Arial"/>
                <a:cs typeface="Arial"/>
              </a:defRPr>
            </a:lvl4pPr>
            <a:lvl5pPr>
              <a:defRPr sz="3300" b="1">
                <a:solidFill>
                  <a:srgbClr val="F5F9FA"/>
                </a:solidFill>
                <a:latin typeface="Arial"/>
                <a:ea typeface="Arial"/>
                <a:cs typeface="Arial"/>
              </a:defRPr>
            </a:lvl5pPr>
            <a:lvl6pPr>
              <a:defRPr sz="3300" b="1">
                <a:solidFill>
                  <a:srgbClr val="F5F9FA"/>
                </a:solidFill>
                <a:latin typeface="Arial"/>
                <a:ea typeface="Arial"/>
                <a:cs typeface="Arial"/>
              </a:defRPr>
            </a:lvl6pPr>
            <a:lvl7pPr>
              <a:defRPr sz="3300" b="1">
                <a:solidFill>
                  <a:srgbClr val="F5F9FA"/>
                </a:solidFill>
                <a:latin typeface="Arial"/>
                <a:ea typeface="Arial"/>
                <a:cs typeface="Arial"/>
              </a:defRPr>
            </a:lvl7pPr>
            <a:lvl8pPr>
              <a:defRPr sz="3300" b="1">
                <a:solidFill>
                  <a:srgbClr val="F5F9FA"/>
                </a:solidFill>
                <a:latin typeface="Arial"/>
                <a:ea typeface="Arial"/>
                <a:cs typeface="Arial"/>
              </a:defRPr>
            </a:lvl8pPr>
            <a:lvl9pPr>
              <a:defRPr sz="3300" b="1">
                <a:solidFill>
                  <a:srgbClr val="F5F9FA"/>
                </a:solidFill>
                <a:latin typeface="Arial"/>
                <a:ea typeface="Arial"/>
                <a:cs typeface="Arial"/>
              </a:defRPr>
            </a:lvl9pPr>
          </a:lstStyle>
          <a:p xmlns:a="http://schemas.openxmlformats.org/drawingml/2006/main">
            <a:pPr>
              <a:defRPr sz="3300" b="1">
                <a:solidFill>
                  <a:srgbClr val="F5F9FA"/>
                </a:solidFill>
                <a:latin typeface="Arial"/>
                <a:ea typeface="Arial"/>
                <a:cs typeface="Arial"/>
              </a:defRPr>
            </a:pPr>
            <a:r>
              <a:rPr sz="3300" b="1">
                <a:solidFill>
                  <a:srgbClr val="F5F9FA"/>
                </a:solidFill>
                <a:latin typeface="Arial"/>
                <a:ea typeface="Arial"/>
                <a:cs typeface="Arial"/>
              </a:rPr>
              <a:t>Жизненный цикл пользовательского персонажа</a:t>
            </a:r>
          </a:p>
        </p:txBody>
      </p:sp>
      <p:sp>
        <p:nvSpPr>
          <p:cNvPr id="2" name="">
            <a:extLst xmlns:a="http://schemas.openxmlformats.org/drawingml/2006/main">
              <a:ext uri="{FF2B5EF4-FFF2-40B4-BE49-F238E27FC236}">
                <a16:creationId xmlns:a16="http://schemas.microsoft.com/office/drawing/2014/main" id="{A9B34DDA-C623-414E-B0CE-D376A68CFAEF}"/>
              </a:ext>
            </a:extLst>
          </p:cNvPr>
          <p:cNvSpPr>
            <a:spLocks xmlns:a="http://schemas.openxmlformats.org/drawingml/2006/main" noGrp="1"/>
          </p:cNvSpPr>
          <p:nvPr/>
        </p:nvSpPr>
        <p:spPr>
          <a:xfrm xmlns:a="http://schemas.openxmlformats.org/drawingml/2006/main">
            <a:off x="609600" y="1571625"/>
            <a:ext cx="70866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CE8ED"/>
                </a:solidFill>
                <a:latin typeface="Arial"/>
                <a:ea typeface="Arial"/>
                <a:cs typeface="Arial"/>
              </a:defRPr>
            </a:defPPr>
            <a:lvl1pPr>
              <a:defRPr sz="1725" b="0">
                <a:solidFill>
                  <a:srgbClr val="BCE8ED"/>
                </a:solidFill>
                <a:latin typeface="Arial"/>
                <a:ea typeface="Arial"/>
                <a:cs typeface="Arial"/>
              </a:defRPr>
            </a:lvl1pPr>
            <a:lvl2pPr>
              <a:defRPr sz="1725" b="0">
                <a:solidFill>
                  <a:srgbClr val="BCE8ED"/>
                </a:solidFill>
                <a:latin typeface="Arial"/>
                <a:ea typeface="Arial"/>
                <a:cs typeface="Arial"/>
              </a:defRPr>
            </a:lvl2pPr>
            <a:lvl3pPr>
              <a:defRPr sz="1725" b="0">
                <a:solidFill>
                  <a:srgbClr val="BCE8ED"/>
                </a:solidFill>
                <a:latin typeface="Arial"/>
                <a:ea typeface="Arial"/>
                <a:cs typeface="Arial"/>
              </a:defRPr>
            </a:lvl3pPr>
            <a:lvl4pPr>
              <a:defRPr sz="1725" b="0">
                <a:solidFill>
                  <a:srgbClr val="BCE8ED"/>
                </a:solidFill>
                <a:latin typeface="Arial"/>
                <a:ea typeface="Arial"/>
                <a:cs typeface="Arial"/>
              </a:defRPr>
            </a:lvl4pPr>
            <a:lvl5pPr>
              <a:defRPr sz="1725" b="0">
                <a:solidFill>
                  <a:srgbClr val="BCE8ED"/>
                </a:solidFill>
                <a:latin typeface="Arial"/>
                <a:ea typeface="Arial"/>
                <a:cs typeface="Arial"/>
              </a:defRPr>
            </a:lvl5pPr>
            <a:lvl6pPr>
              <a:defRPr sz="1725" b="0">
                <a:solidFill>
                  <a:srgbClr val="BCE8ED"/>
                </a:solidFill>
                <a:latin typeface="Arial"/>
                <a:ea typeface="Arial"/>
                <a:cs typeface="Arial"/>
              </a:defRPr>
            </a:lvl6pPr>
            <a:lvl7pPr>
              <a:defRPr sz="1725" b="0">
                <a:solidFill>
                  <a:srgbClr val="BCE8ED"/>
                </a:solidFill>
                <a:latin typeface="Arial"/>
                <a:ea typeface="Arial"/>
                <a:cs typeface="Arial"/>
              </a:defRPr>
            </a:lvl7pPr>
            <a:lvl8pPr>
              <a:defRPr sz="1725" b="0">
                <a:solidFill>
                  <a:srgbClr val="BCE8ED"/>
                </a:solidFill>
                <a:latin typeface="Arial"/>
                <a:ea typeface="Arial"/>
                <a:cs typeface="Arial"/>
              </a:defRPr>
            </a:lvl8pPr>
            <a:lvl9pPr>
              <a:defRPr sz="1725" b="0">
                <a:solidFill>
                  <a:srgbClr val="BCE8ED"/>
                </a:solidFill>
                <a:latin typeface="Arial"/>
                <a:ea typeface="Arial"/>
                <a:cs typeface="Arial"/>
              </a:defRPr>
            </a:lvl9pPr>
          </a:lstStyle>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void MyHero::BeginPlay()</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Character::BeginPlay();</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 Подписки и подготовка игровой логики</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a:t>
            </a:r>
          </a:p>
          <a:p xmlns:a="http://schemas.openxmlformats.org/drawingml/2006/main">
            <a:r>
              <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void MyHero::Tick(float deltaTime)</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Character::Tick(deltaTime);</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 Поведение персонажа в игре</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31CB7DCB-3E51-4332-8963-FF98A5B22F08}"/>
              </a:ext>
            </a:extLst>
          </p:cNvPr>
          <p:cNvSpPr>
            <a:spLocks xmlns:a="http://schemas.openxmlformats.org/drawingml/2006/main" noGrp="1"/>
          </p:cNvSpPr>
          <p:nvPr/>
        </p:nvSpPr>
        <p:spPr>
          <a:xfrm xmlns:a="http://schemas.openxmlformats.org/drawingml/2006/main">
            <a:off x="8001000" y="1638300"/>
            <a:ext cx="35814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E1E9EF"/>
                </a:solidFill>
                <a:latin typeface="Arial"/>
                <a:ea typeface="Arial"/>
                <a:cs typeface="Arial"/>
              </a:defRPr>
            </a:defPPr>
            <a:lvl1pPr>
              <a:defRPr sz="1875" b="0">
                <a:solidFill>
                  <a:srgbClr val="E1E9EF"/>
                </a:solidFill>
                <a:latin typeface="Arial"/>
                <a:ea typeface="Arial"/>
                <a:cs typeface="Arial"/>
              </a:defRPr>
            </a:lvl1pPr>
            <a:lvl2pPr>
              <a:defRPr sz="1875" b="0">
                <a:solidFill>
                  <a:srgbClr val="E1E9EF"/>
                </a:solidFill>
                <a:latin typeface="Arial"/>
                <a:ea typeface="Arial"/>
                <a:cs typeface="Arial"/>
              </a:defRPr>
            </a:lvl2pPr>
            <a:lvl3pPr>
              <a:defRPr sz="1875" b="0">
                <a:solidFill>
                  <a:srgbClr val="E1E9EF"/>
                </a:solidFill>
                <a:latin typeface="Arial"/>
                <a:ea typeface="Arial"/>
                <a:cs typeface="Arial"/>
              </a:defRPr>
            </a:lvl3pPr>
            <a:lvl4pPr>
              <a:defRPr sz="1875" b="0">
                <a:solidFill>
                  <a:srgbClr val="E1E9EF"/>
                </a:solidFill>
                <a:latin typeface="Arial"/>
                <a:ea typeface="Arial"/>
                <a:cs typeface="Arial"/>
              </a:defRPr>
            </a:lvl4pPr>
            <a:lvl5pPr>
              <a:defRPr sz="1875" b="0">
                <a:solidFill>
                  <a:srgbClr val="E1E9EF"/>
                </a:solidFill>
                <a:latin typeface="Arial"/>
                <a:ea typeface="Arial"/>
                <a:cs typeface="Arial"/>
              </a:defRPr>
            </a:lvl5pPr>
            <a:lvl6pPr>
              <a:defRPr sz="1875" b="0">
                <a:solidFill>
                  <a:srgbClr val="E1E9EF"/>
                </a:solidFill>
                <a:latin typeface="Arial"/>
                <a:ea typeface="Arial"/>
                <a:cs typeface="Arial"/>
              </a:defRPr>
            </a:lvl6pPr>
            <a:lvl7pPr>
              <a:defRPr sz="1875" b="0">
                <a:solidFill>
                  <a:srgbClr val="E1E9EF"/>
                </a:solidFill>
                <a:latin typeface="Arial"/>
                <a:ea typeface="Arial"/>
                <a:cs typeface="Arial"/>
              </a:defRPr>
            </a:lvl7pPr>
            <a:lvl8pPr>
              <a:defRPr sz="1875" b="0">
                <a:solidFill>
                  <a:srgbClr val="E1E9EF"/>
                </a:solidFill>
                <a:latin typeface="Arial"/>
                <a:ea typeface="Arial"/>
                <a:cs typeface="Arial"/>
              </a:defRPr>
            </a:lvl8pPr>
            <a:lvl9pPr>
              <a:defRPr sz="1875" b="0">
                <a:solidFill>
                  <a:srgbClr val="E1E9EF"/>
                </a:solidFill>
                <a:latin typeface="Arial"/>
                <a:ea typeface="Arial"/>
                <a:cs typeface="Arial"/>
              </a:defRPr>
            </a:lvl9pPr>
          </a:lstStyle>
          <a:p xmlns:a="http://schemas.openxmlformats.org/drawingml/2006/main">
            <a:pPr>
              <a:defRPr sz="1875" b="0">
                <a:solidFill>
                  <a:srgbClr val="E1E9EF"/>
                </a:solidFill>
                <a:latin typeface="Arial"/>
                <a:ea typeface="Arial"/>
                <a:cs typeface="Arial"/>
              </a:defRPr>
            </a:pPr>
            <a:r>
              <a:rPr sz="1875" b="0">
                <a:solidFill>
                  <a:srgbClr val="E1E9EF"/>
                </a:solidFill>
                <a:latin typeface="Arial"/>
                <a:ea typeface="Arial"/>
                <a:cs typeface="Arial"/>
              </a:rPr>
              <a:t>BeginPlay вызывается один раз перед первой обработкой игрового ввода и Tick.</a:t>
            </a:r>
          </a:p>
          <a:p xmlns:a="http://schemas.openxmlformats.org/drawingml/2006/main">
            <a:r>
              <a:t/>
            </a:r>
          </a:p>
          <a:p xmlns:a="http://schemas.openxmlformats.org/drawingml/2006/main">
            <a:pPr>
              <a:defRPr sz="1875" b="0">
                <a:solidFill>
                  <a:srgbClr val="E1E9EF"/>
                </a:solidFill>
                <a:latin typeface="Arial"/>
                <a:ea typeface="Arial"/>
                <a:cs typeface="Arial"/>
              </a:defRPr>
            </a:pPr>
            <a:r>
              <a:rPr sz="1875" b="0">
                <a:solidFill>
                  <a:srgbClr val="E1E9EF"/>
                </a:solidFill>
                <a:latin typeface="Arial"/>
                <a:ea typeface="Arial"/>
                <a:cs typeface="Arial"/>
              </a:rPr>
              <a:t>Сгенерированные методы сохраняют вызов непосредственного родителя.</a:t>
            </a:r>
          </a:p>
        </p:txBody>
      </p:sp>
      <p:sp>
        <p:nvSpPr>
          <p:cNvPr id="4" name="">
            <a:extLst xmlns:a="http://schemas.openxmlformats.org/drawingml/2006/main">
              <a:ext uri="{FF2B5EF4-FFF2-40B4-BE49-F238E27FC236}">
                <a16:creationId xmlns:a16="http://schemas.microsoft.com/office/drawing/2014/main" id="{96290B70-929E-4068-A5F2-6C068D6ABFD7}"/>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BB3C4"/>
                </a:solidFill>
                <a:latin typeface="Arial"/>
                <a:ea typeface="Arial"/>
                <a:cs typeface="Arial"/>
              </a:defRPr>
            </a:defPPr>
            <a:lvl1pPr>
              <a:defRPr sz="1200" b="0">
                <a:solidFill>
                  <a:srgbClr val="9BB3C4"/>
                </a:solidFill>
                <a:latin typeface="Arial"/>
                <a:ea typeface="Arial"/>
                <a:cs typeface="Arial"/>
              </a:defRPr>
            </a:lvl1pPr>
            <a:lvl2pPr>
              <a:defRPr sz="1200" b="0">
                <a:solidFill>
                  <a:srgbClr val="9BB3C4"/>
                </a:solidFill>
                <a:latin typeface="Arial"/>
                <a:ea typeface="Arial"/>
                <a:cs typeface="Arial"/>
              </a:defRPr>
            </a:lvl2pPr>
            <a:lvl3pPr>
              <a:defRPr sz="1200" b="0">
                <a:solidFill>
                  <a:srgbClr val="9BB3C4"/>
                </a:solidFill>
                <a:latin typeface="Arial"/>
                <a:ea typeface="Arial"/>
                <a:cs typeface="Arial"/>
              </a:defRPr>
            </a:lvl3pPr>
            <a:lvl4pPr>
              <a:defRPr sz="1200" b="0">
                <a:solidFill>
                  <a:srgbClr val="9BB3C4"/>
                </a:solidFill>
                <a:latin typeface="Arial"/>
                <a:ea typeface="Arial"/>
                <a:cs typeface="Arial"/>
              </a:defRPr>
            </a:lvl4pPr>
            <a:lvl5pPr>
              <a:defRPr sz="1200" b="0">
                <a:solidFill>
                  <a:srgbClr val="9BB3C4"/>
                </a:solidFill>
                <a:latin typeface="Arial"/>
                <a:ea typeface="Arial"/>
                <a:cs typeface="Arial"/>
              </a:defRPr>
            </a:lvl5pPr>
            <a:lvl6pPr>
              <a:defRPr sz="1200" b="0">
                <a:solidFill>
                  <a:srgbClr val="9BB3C4"/>
                </a:solidFill>
                <a:latin typeface="Arial"/>
                <a:ea typeface="Arial"/>
                <a:cs typeface="Arial"/>
              </a:defRPr>
            </a:lvl6pPr>
            <a:lvl7pPr>
              <a:defRPr sz="1200" b="0">
                <a:solidFill>
                  <a:srgbClr val="9BB3C4"/>
                </a:solidFill>
                <a:latin typeface="Arial"/>
                <a:ea typeface="Arial"/>
                <a:cs typeface="Arial"/>
              </a:defRPr>
            </a:lvl7pPr>
            <a:lvl8pPr>
              <a:defRPr sz="1200" b="0">
                <a:solidFill>
                  <a:srgbClr val="9BB3C4"/>
                </a:solidFill>
                <a:latin typeface="Arial"/>
                <a:ea typeface="Arial"/>
                <a:cs typeface="Arial"/>
              </a:defRPr>
            </a:lvl8pPr>
            <a:lvl9pPr>
              <a:defRPr sz="1200" b="0">
                <a:solidFill>
                  <a:srgbClr val="9BB3C4"/>
                </a:solidFill>
                <a:latin typeface="Arial"/>
                <a:ea typeface="Arial"/>
                <a:cs typeface="Arial"/>
              </a:defRPr>
            </a:lvl9pPr>
          </a:lstStyle>
          <a:p xmlns:a="http://schemas.openxmlformats.org/drawingml/2006/main">
            <a:pPr>
              <a:defRPr sz="1200" b="0">
                <a:solidFill>
                  <a:srgbClr val="9BB3C4"/>
                </a:solidFill>
                <a:latin typeface="Arial"/>
                <a:ea typeface="Arial"/>
                <a:cs typeface="Arial"/>
              </a:defRPr>
            </a:pPr>
            <a:r>
              <a:rPr sz="1200" b="0">
                <a:solidFill>
                  <a:srgbClr val="9BB3C4"/>
                </a:solidFill>
                <a:latin typeface="Arial"/>
                <a:ea typeface="Arial"/>
                <a:cs typeface="Arial"/>
              </a:rPr>
              <a:t>16</a:t>
            </a:r>
          </a:p>
        </p:txBody>
      </p:sp>
    </p:spTree>
    <p:extLst>
      <p:ext uri="{BB962C8B-B14F-4D97-AF65-F5344CB8AC3E}">
        <p14:creationId xmlns:p14="http://schemas.microsoft.com/office/powerpoint/2010/main" val="1438517920"/>
      </p:ext>
    </p:extLst>
  </p:cSld>
</p:sld>
</file>

<file path=ppt/slides/slide17.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1AC0F5-F117-4DE9-A938-3742D45BDD15}"/>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Как ввод доходит до персонажа</a:t>
            </a:r>
          </a:p>
        </p:txBody>
      </p:sp>
      <p:sp>
        <p:nvSpPr>
          <p:cNvPr id="2" name="">
            <a:extLst xmlns:a="http://schemas.openxmlformats.org/drawingml/2006/main">
              <a:ext uri="{FF2B5EF4-FFF2-40B4-BE49-F238E27FC236}">
                <a16:creationId xmlns:a16="http://schemas.microsoft.com/office/drawing/2014/main" id="{44ECE80D-931F-4A69-A57C-0845FA0212D6}"/>
              </a:ext>
            </a:extLst>
          </p:cNvPr>
          <p:cNvSpPr>
            <a:spLocks xmlns:a="http://schemas.openxmlformats.org/drawingml/2006/main" noGrp="1"/>
          </p:cNvSpPr>
          <p:nvPr/>
        </p:nvSpPr>
        <p:spPr>
          <a:xfrm xmlns:a="http://schemas.openxmlformats.org/drawingml/2006/main">
            <a:off x="609600" y="1666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Устройство и контекст</a:t>
            </a:r>
          </a:p>
        </p:txBody>
      </p:sp>
      <p:sp>
        <p:nvSpPr>
          <p:cNvPr id="3" name="">
            <a:extLst xmlns:a="http://schemas.openxmlformats.org/drawingml/2006/main">
              <a:ext uri="{FF2B5EF4-FFF2-40B4-BE49-F238E27FC236}">
                <a16:creationId xmlns:a16="http://schemas.microsoft.com/office/drawing/2014/main" id="{B6A16DF7-6B0E-4B4D-8528-23D0AC836D94}"/>
              </a:ext>
            </a:extLst>
          </p:cNvPr>
          <p:cNvSpPr>
            <a:spLocks xmlns:a="http://schemas.openxmlformats.org/drawingml/2006/main" noGrp="1"/>
          </p:cNvSpPr>
          <p:nvPr/>
        </p:nvSpPr>
        <p:spPr>
          <a:xfrm xmlns:a="http://schemas.openxmlformats.org/drawingml/2006/main">
            <a:off x="4191000" y="1695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Клавиатура / мышь поступают в Input::System. Контексты: UI, Editor и Game.</a:t>
            </a:r>
          </a:p>
        </p:txBody>
      </p:sp>
      <p:sp>
        <p:nvSpPr>
          <p:cNvPr id="4" name="">
            <a:extLst xmlns:a="http://schemas.openxmlformats.org/drawingml/2006/main">
              <a:ext uri="{FF2B5EF4-FFF2-40B4-BE49-F238E27FC236}">
                <a16:creationId xmlns:a16="http://schemas.microsoft.com/office/drawing/2014/main" id="{A9CE0513-B2A5-4A60-BAAA-007CB07F179E}"/>
              </a:ext>
            </a:extLst>
          </p:cNvPr>
          <p:cNvSpPr>
            <a:spLocks xmlns:a="http://schemas.openxmlformats.org/drawingml/2006/main" noGrp="1"/>
          </p:cNvSpPr>
          <p:nvPr/>
        </p:nvSpPr>
        <p:spPr>
          <a:xfrm xmlns:a="http://schemas.openxmlformats.org/drawingml/2006/main">
            <a:off x="609600" y="30003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Действие и обработчик</a:t>
            </a:r>
          </a:p>
        </p:txBody>
      </p:sp>
      <p:sp>
        <p:nvSpPr>
          <p:cNvPr id="5" name="">
            <a:extLst xmlns:a="http://schemas.openxmlformats.org/drawingml/2006/main">
              <a:ext uri="{FF2B5EF4-FFF2-40B4-BE49-F238E27FC236}">
                <a16:creationId xmlns:a16="http://schemas.microsoft.com/office/drawing/2014/main" id="{586A444D-7C03-4189-A290-856BFD2B000E}"/>
              </a:ext>
            </a:extLst>
          </p:cNvPr>
          <p:cNvSpPr>
            <a:spLocks xmlns:a="http://schemas.openxmlformats.org/drawingml/2006/main" noGrp="1"/>
          </p:cNvSpPr>
          <p:nvPr/>
        </p:nvSpPr>
        <p:spPr>
          <a:xfrm xmlns:a="http://schemas.openxmlformats.org/drawingml/2006/main">
            <a:off x="4191000" y="30289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Привязка сопоставляет клавиши имени действия. Подписчик получает Pressed, Held, Released или Axis.</a:t>
            </a:r>
          </a:p>
        </p:txBody>
      </p:sp>
      <p:sp>
        <p:nvSpPr>
          <p:cNvPr id="6" name="">
            <a:extLst xmlns:a="http://schemas.openxmlformats.org/drawingml/2006/main">
              <a:ext uri="{FF2B5EF4-FFF2-40B4-BE49-F238E27FC236}">
                <a16:creationId xmlns:a16="http://schemas.microsoft.com/office/drawing/2014/main" id="{E7B400F7-F635-4082-93AD-CF60FECF55C3}"/>
              </a:ext>
            </a:extLst>
          </p:cNvPr>
          <p:cNvSpPr>
            <a:spLocks xmlns:a="http://schemas.openxmlformats.org/drawingml/2006/main" noGrp="1"/>
          </p:cNvSpPr>
          <p:nvPr/>
        </p:nvSpPr>
        <p:spPr>
          <a:xfrm xmlns:a="http://schemas.openxmlformats.org/drawingml/2006/main">
            <a:off x="609600" y="4333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Контроллер и объект</a:t>
            </a:r>
          </a:p>
        </p:txBody>
      </p:sp>
      <p:sp>
        <p:nvSpPr>
          <p:cNvPr id="7" name="">
            <a:extLst xmlns:a="http://schemas.openxmlformats.org/drawingml/2006/main">
              <a:ext uri="{FF2B5EF4-FFF2-40B4-BE49-F238E27FC236}">
                <a16:creationId xmlns:a16="http://schemas.microsoft.com/office/drawing/2014/main" id="{0DC7D369-77A1-4EF1-8829-4DE13ACFA36B}"/>
              </a:ext>
            </a:extLst>
          </p:cNvPr>
          <p:cNvSpPr>
            <a:spLocks xmlns:a="http://schemas.openxmlformats.org/drawingml/2006/main" noGrp="1"/>
          </p:cNvSpPr>
          <p:nvPr/>
        </p:nvSpPr>
        <p:spPr>
          <a:xfrm xmlns:a="http://schemas.openxmlformats.org/drawingml/2006/main">
            <a:off x="4191000" y="4362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CharacterController управляет назначением, движением Character и игровой камерой.</a:t>
            </a:r>
          </a:p>
        </p:txBody>
      </p:sp>
      <p:sp>
        <p:nvSpPr>
          <p:cNvPr id="8" name="">
            <a:extLst xmlns:a="http://schemas.openxmlformats.org/drawingml/2006/main">
              <a:ext uri="{FF2B5EF4-FFF2-40B4-BE49-F238E27FC236}">
                <a16:creationId xmlns:a16="http://schemas.microsoft.com/office/drawing/2014/main" id="{0130DE02-834B-4FED-BE5D-421A45811B6D}"/>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Обычный C++ класс тоже может подписаться. Наследование от GameComponent не требуется.</a:t>
            </a:r>
          </a:p>
        </p:txBody>
      </p:sp>
      <p:sp>
        <p:nvSpPr>
          <p:cNvPr id="9" name="">
            <a:extLst xmlns:a="http://schemas.openxmlformats.org/drawingml/2006/main">
              <a:ext uri="{FF2B5EF4-FFF2-40B4-BE49-F238E27FC236}">
                <a16:creationId xmlns:a16="http://schemas.microsoft.com/office/drawing/2014/main" id="{2CC40E76-0DE6-4D5D-905E-6DF6C3C685CD}"/>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17</a:t>
            </a:r>
          </a:p>
        </p:txBody>
      </p:sp>
    </p:spTree>
    <p:extLst>
      <p:ext uri="{BB962C8B-B14F-4D97-AF65-F5344CB8AC3E}">
        <p14:creationId xmlns:p14="http://schemas.microsoft.com/office/powerpoint/2010/main" val="1239990094"/>
      </p:ext>
    </p:extLst>
  </p:cSld>
</p:sld>
</file>

<file path=ppt/slides/slide18.xml><?xml version="1.0" encoding="utf-8"?>
<p:sld xmlns:p="http://schemas.openxmlformats.org/presentationml/2006/main">
  <p:cSld>
    <p:bg>
      <p:bgPr>
        <a:solidFill xmlns:a="http://schemas.openxmlformats.org/drawingml/2006/main">
          <a:srgbClr val="101C2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EA5E69A-0120-44C2-901F-3B5527A6CD5D}"/>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9FA"/>
                </a:solidFill>
                <a:latin typeface="Arial"/>
                <a:ea typeface="Arial"/>
                <a:cs typeface="Arial"/>
              </a:defRPr>
            </a:defPPr>
            <a:lvl1pPr>
              <a:defRPr sz="3300" b="1">
                <a:solidFill>
                  <a:srgbClr val="F5F9FA"/>
                </a:solidFill>
                <a:latin typeface="Arial"/>
                <a:ea typeface="Arial"/>
                <a:cs typeface="Arial"/>
              </a:defRPr>
            </a:lvl1pPr>
            <a:lvl2pPr>
              <a:defRPr sz="3300" b="1">
                <a:solidFill>
                  <a:srgbClr val="F5F9FA"/>
                </a:solidFill>
                <a:latin typeface="Arial"/>
                <a:ea typeface="Arial"/>
                <a:cs typeface="Arial"/>
              </a:defRPr>
            </a:lvl2pPr>
            <a:lvl3pPr>
              <a:defRPr sz="3300" b="1">
                <a:solidFill>
                  <a:srgbClr val="F5F9FA"/>
                </a:solidFill>
                <a:latin typeface="Arial"/>
                <a:ea typeface="Arial"/>
                <a:cs typeface="Arial"/>
              </a:defRPr>
            </a:lvl3pPr>
            <a:lvl4pPr>
              <a:defRPr sz="3300" b="1">
                <a:solidFill>
                  <a:srgbClr val="F5F9FA"/>
                </a:solidFill>
                <a:latin typeface="Arial"/>
                <a:ea typeface="Arial"/>
                <a:cs typeface="Arial"/>
              </a:defRPr>
            </a:lvl4pPr>
            <a:lvl5pPr>
              <a:defRPr sz="3300" b="1">
                <a:solidFill>
                  <a:srgbClr val="F5F9FA"/>
                </a:solidFill>
                <a:latin typeface="Arial"/>
                <a:ea typeface="Arial"/>
                <a:cs typeface="Arial"/>
              </a:defRPr>
            </a:lvl5pPr>
            <a:lvl6pPr>
              <a:defRPr sz="3300" b="1">
                <a:solidFill>
                  <a:srgbClr val="F5F9FA"/>
                </a:solidFill>
                <a:latin typeface="Arial"/>
                <a:ea typeface="Arial"/>
                <a:cs typeface="Arial"/>
              </a:defRPr>
            </a:lvl6pPr>
            <a:lvl7pPr>
              <a:defRPr sz="3300" b="1">
                <a:solidFill>
                  <a:srgbClr val="F5F9FA"/>
                </a:solidFill>
                <a:latin typeface="Arial"/>
                <a:ea typeface="Arial"/>
                <a:cs typeface="Arial"/>
              </a:defRPr>
            </a:lvl7pPr>
            <a:lvl8pPr>
              <a:defRPr sz="3300" b="1">
                <a:solidFill>
                  <a:srgbClr val="F5F9FA"/>
                </a:solidFill>
                <a:latin typeface="Arial"/>
                <a:ea typeface="Arial"/>
                <a:cs typeface="Arial"/>
              </a:defRPr>
            </a:lvl8pPr>
            <a:lvl9pPr>
              <a:defRPr sz="3300" b="1">
                <a:solidFill>
                  <a:srgbClr val="F5F9FA"/>
                </a:solidFill>
                <a:latin typeface="Arial"/>
                <a:ea typeface="Arial"/>
                <a:cs typeface="Arial"/>
              </a:defRPr>
            </a:lvl9pPr>
          </a:lstStyle>
          <a:p xmlns:a="http://schemas.openxmlformats.org/drawingml/2006/main">
            <a:pPr>
              <a:defRPr sz="3300" b="1">
                <a:solidFill>
                  <a:srgbClr val="F5F9FA"/>
                </a:solidFill>
                <a:latin typeface="Arial"/>
                <a:ea typeface="Arial"/>
                <a:cs typeface="Arial"/>
              </a:defRPr>
            </a:pPr>
            <a:r>
              <a:rPr sz="3300" b="1">
                <a:solidFill>
                  <a:srgbClr val="F5F9FA"/>
                </a:solidFill>
                <a:latin typeface="Arial"/>
                <a:ea typeface="Arial"/>
                <a:cs typeface="Arial"/>
              </a:rPr>
              <a:t>Подписка из обычного класса</a:t>
            </a:r>
          </a:p>
        </p:txBody>
      </p:sp>
      <p:sp>
        <p:nvSpPr>
          <p:cNvPr id="2" name="">
            <a:extLst xmlns:a="http://schemas.openxmlformats.org/drawingml/2006/main">
              <a:ext uri="{FF2B5EF4-FFF2-40B4-BE49-F238E27FC236}">
                <a16:creationId xmlns:a16="http://schemas.microsoft.com/office/drawing/2014/main" id="{80389614-5B1B-489F-96C2-BDCA309E88F3}"/>
              </a:ext>
            </a:extLst>
          </p:cNvPr>
          <p:cNvSpPr>
            <a:spLocks xmlns:a="http://schemas.openxmlformats.org/drawingml/2006/main" noGrp="1"/>
          </p:cNvSpPr>
          <p:nvPr/>
        </p:nvSpPr>
        <p:spPr>
          <a:xfrm xmlns:a="http://schemas.openxmlformats.org/drawingml/2006/main">
            <a:off x="609600" y="1571625"/>
            <a:ext cx="70866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CE8ED"/>
                </a:solidFill>
                <a:latin typeface="Arial"/>
                <a:ea typeface="Arial"/>
                <a:cs typeface="Arial"/>
              </a:defRPr>
            </a:defPPr>
            <a:lvl1pPr>
              <a:defRPr sz="1725" b="0">
                <a:solidFill>
                  <a:srgbClr val="BCE8ED"/>
                </a:solidFill>
                <a:latin typeface="Arial"/>
                <a:ea typeface="Arial"/>
                <a:cs typeface="Arial"/>
              </a:defRPr>
            </a:lvl1pPr>
            <a:lvl2pPr>
              <a:defRPr sz="1725" b="0">
                <a:solidFill>
                  <a:srgbClr val="BCE8ED"/>
                </a:solidFill>
                <a:latin typeface="Arial"/>
                <a:ea typeface="Arial"/>
                <a:cs typeface="Arial"/>
              </a:defRPr>
            </a:lvl2pPr>
            <a:lvl3pPr>
              <a:defRPr sz="1725" b="0">
                <a:solidFill>
                  <a:srgbClr val="BCE8ED"/>
                </a:solidFill>
                <a:latin typeface="Arial"/>
                <a:ea typeface="Arial"/>
                <a:cs typeface="Arial"/>
              </a:defRPr>
            </a:lvl3pPr>
            <a:lvl4pPr>
              <a:defRPr sz="1725" b="0">
                <a:solidFill>
                  <a:srgbClr val="BCE8ED"/>
                </a:solidFill>
                <a:latin typeface="Arial"/>
                <a:ea typeface="Arial"/>
                <a:cs typeface="Arial"/>
              </a:defRPr>
            </a:lvl4pPr>
            <a:lvl5pPr>
              <a:defRPr sz="1725" b="0">
                <a:solidFill>
                  <a:srgbClr val="BCE8ED"/>
                </a:solidFill>
                <a:latin typeface="Arial"/>
                <a:ea typeface="Arial"/>
                <a:cs typeface="Arial"/>
              </a:defRPr>
            </a:lvl5pPr>
            <a:lvl6pPr>
              <a:defRPr sz="1725" b="0">
                <a:solidFill>
                  <a:srgbClr val="BCE8ED"/>
                </a:solidFill>
                <a:latin typeface="Arial"/>
                <a:ea typeface="Arial"/>
                <a:cs typeface="Arial"/>
              </a:defRPr>
            </a:lvl6pPr>
            <a:lvl7pPr>
              <a:defRPr sz="1725" b="0">
                <a:solidFill>
                  <a:srgbClr val="BCE8ED"/>
                </a:solidFill>
                <a:latin typeface="Arial"/>
                <a:ea typeface="Arial"/>
                <a:cs typeface="Arial"/>
              </a:defRPr>
            </a:lvl7pPr>
            <a:lvl8pPr>
              <a:defRPr sz="1725" b="0">
                <a:solidFill>
                  <a:srgbClr val="BCE8ED"/>
                </a:solidFill>
                <a:latin typeface="Arial"/>
                <a:ea typeface="Arial"/>
                <a:cs typeface="Arial"/>
              </a:defRPr>
            </a:lvl8pPr>
            <a:lvl9pPr>
              <a:defRPr sz="1725" b="0">
                <a:solidFill>
                  <a:srgbClr val="BCE8ED"/>
                </a:solidFill>
                <a:latin typeface="Arial"/>
                <a:ea typeface="Arial"/>
                <a:cs typeface="Arial"/>
              </a:defRPr>
            </a:lvl9pPr>
          </a:lstStyle>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class Commands {</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Input::Connection mark_;</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Input::Scope scope_;</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public:</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Commands(Input::System&amp; input) {</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input.Bind({"Mark", Input::Context::Game,</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{Keys::Control, Keys::M}});</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mark_ = input.Subscribe(scope_,</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Input::Context::Game, "Mark",</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Input::Phase::Pressed,</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[this](const Input::Event&amp;) { Mark(); });</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void Mark();</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5173D7B4-5C17-41BA-951F-1B17B3F74647}"/>
              </a:ext>
            </a:extLst>
          </p:cNvPr>
          <p:cNvSpPr>
            <a:spLocks xmlns:a="http://schemas.openxmlformats.org/drawingml/2006/main" noGrp="1"/>
          </p:cNvSpPr>
          <p:nvPr/>
        </p:nvSpPr>
        <p:spPr>
          <a:xfrm xmlns:a="http://schemas.openxmlformats.org/drawingml/2006/main">
            <a:off x="8001000" y="1638300"/>
            <a:ext cx="35814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E1E9EF"/>
                </a:solidFill>
                <a:latin typeface="Arial"/>
                <a:ea typeface="Arial"/>
                <a:cs typeface="Arial"/>
              </a:defRPr>
            </a:defPPr>
            <a:lvl1pPr>
              <a:defRPr sz="1875" b="0">
                <a:solidFill>
                  <a:srgbClr val="E1E9EF"/>
                </a:solidFill>
                <a:latin typeface="Arial"/>
                <a:ea typeface="Arial"/>
                <a:cs typeface="Arial"/>
              </a:defRPr>
            </a:lvl1pPr>
            <a:lvl2pPr>
              <a:defRPr sz="1875" b="0">
                <a:solidFill>
                  <a:srgbClr val="E1E9EF"/>
                </a:solidFill>
                <a:latin typeface="Arial"/>
                <a:ea typeface="Arial"/>
                <a:cs typeface="Arial"/>
              </a:defRPr>
            </a:lvl2pPr>
            <a:lvl3pPr>
              <a:defRPr sz="1875" b="0">
                <a:solidFill>
                  <a:srgbClr val="E1E9EF"/>
                </a:solidFill>
                <a:latin typeface="Arial"/>
                <a:ea typeface="Arial"/>
                <a:cs typeface="Arial"/>
              </a:defRPr>
            </a:lvl3pPr>
            <a:lvl4pPr>
              <a:defRPr sz="1875" b="0">
                <a:solidFill>
                  <a:srgbClr val="E1E9EF"/>
                </a:solidFill>
                <a:latin typeface="Arial"/>
                <a:ea typeface="Arial"/>
                <a:cs typeface="Arial"/>
              </a:defRPr>
            </a:lvl4pPr>
            <a:lvl5pPr>
              <a:defRPr sz="1875" b="0">
                <a:solidFill>
                  <a:srgbClr val="E1E9EF"/>
                </a:solidFill>
                <a:latin typeface="Arial"/>
                <a:ea typeface="Arial"/>
                <a:cs typeface="Arial"/>
              </a:defRPr>
            </a:lvl5pPr>
            <a:lvl6pPr>
              <a:defRPr sz="1875" b="0">
                <a:solidFill>
                  <a:srgbClr val="E1E9EF"/>
                </a:solidFill>
                <a:latin typeface="Arial"/>
                <a:ea typeface="Arial"/>
                <a:cs typeface="Arial"/>
              </a:defRPr>
            </a:lvl6pPr>
            <a:lvl7pPr>
              <a:defRPr sz="1875" b="0">
                <a:solidFill>
                  <a:srgbClr val="E1E9EF"/>
                </a:solidFill>
                <a:latin typeface="Arial"/>
                <a:ea typeface="Arial"/>
                <a:cs typeface="Arial"/>
              </a:defRPr>
            </a:lvl7pPr>
            <a:lvl8pPr>
              <a:defRPr sz="1875" b="0">
                <a:solidFill>
                  <a:srgbClr val="E1E9EF"/>
                </a:solidFill>
                <a:latin typeface="Arial"/>
                <a:ea typeface="Arial"/>
                <a:cs typeface="Arial"/>
              </a:defRPr>
            </a:lvl8pPr>
            <a:lvl9pPr>
              <a:defRPr sz="1875" b="0">
                <a:solidFill>
                  <a:srgbClr val="E1E9EF"/>
                </a:solidFill>
                <a:latin typeface="Arial"/>
                <a:ea typeface="Arial"/>
                <a:cs typeface="Arial"/>
              </a:defRPr>
            </a:lvl9pPr>
          </a:lstStyle>
          <a:p xmlns:a="http://schemas.openxmlformats.org/drawingml/2006/main">
            <a:pPr>
              <a:defRPr sz="1875" b="0">
                <a:solidFill>
                  <a:srgbClr val="E1E9EF"/>
                </a:solidFill>
                <a:latin typeface="Arial"/>
                <a:ea typeface="Arial"/>
                <a:cs typeface="Arial"/>
              </a:defRPr>
            </a:pPr>
            <a:r>
              <a:rPr sz="1875" b="0">
                <a:solidFill>
                  <a:srgbClr val="E1E9EF"/>
                </a:solidFill>
                <a:latin typeface="Arial"/>
                <a:ea typeface="Arial"/>
                <a:cs typeface="Arial"/>
              </a:rPr>
              <a:t>Храните Connection как поле.</a:t>
            </a:r>
          </a:p>
          <a:p xmlns:a="http://schemas.openxmlformats.org/drawingml/2006/main">
            <a:r>
              <a:t/>
            </a:r>
          </a:p>
          <a:p xmlns:a="http://schemas.openxmlformats.org/drawingml/2006/main">
            <a:pPr>
              <a:defRPr sz="1875" b="0">
                <a:solidFill>
                  <a:srgbClr val="E1E9EF"/>
                </a:solidFill>
                <a:latin typeface="Arial"/>
                <a:ea typeface="Arial"/>
                <a:cs typeface="Arial"/>
              </a:defRPr>
            </a:pPr>
            <a:r>
              <a:rPr sz="1875" b="0">
                <a:solidFill>
                  <a:srgbClr val="E1E9EF"/>
                </a:solidFill>
                <a:latin typeface="Arial"/>
                <a:ea typeface="Arial"/>
                <a:cs typeface="Arial"/>
              </a:rPr>
              <a:t>Scope принадлежит владельцу обработчика и отключает подписки при уничтожении.</a:t>
            </a:r>
          </a:p>
          <a:p xmlns:a="http://schemas.openxmlformats.org/drawingml/2006/main">
            <a:r>
              <a:t/>
            </a:r>
          </a:p>
          <a:p xmlns:a="http://schemas.openxmlformats.org/drawingml/2006/main">
            <a:pPr>
              <a:defRPr sz="1875" b="0">
                <a:solidFill>
                  <a:srgbClr val="E1E9EF"/>
                </a:solidFill>
                <a:latin typeface="Arial"/>
                <a:ea typeface="Arial"/>
                <a:cs typeface="Arial"/>
              </a:defRPr>
            </a:pPr>
            <a:r>
              <a:rPr sz="1875" b="0">
                <a:solidFill>
                  <a:srgbClr val="E1E9EF"/>
                </a:solidFill>
                <a:latin typeface="Arial"/>
                <a:ea typeface="Arial"/>
                <a:cs typeface="Arial"/>
              </a:rPr>
              <a:t>Временное отключение: scope_.SetEnabled(false).</a:t>
            </a:r>
          </a:p>
        </p:txBody>
      </p:sp>
      <p:sp>
        <p:nvSpPr>
          <p:cNvPr id="4" name="">
            <a:extLst xmlns:a="http://schemas.openxmlformats.org/drawingml/2006/main">
              <a:ext uri="{FF2B5EF4-FFF2-40B4-BE49-F238E27FC236}">
                <a16:creationId xmlns:a16="http://schemas.microsoft.com/office/drawing/2014/main" id="{3CD2B28E-4C2B-405A-98CB-96196A78AB3B}"/>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BB3C4"/>
                </a:solidFill>
                <a:latin typeface="Arial"/>
                <a:ea typeface="Arial"/>
                <a:cs typeface="Arial"/>
              </a:defRPr>
            </a:defPPr>
            <a:lvl1pPr>
              <a:defRPr sz="1200" b="0">
                <a:solidFill>
                  <a:srgbClr val="9BB3C4"/>
                </a:solidFill>
                <a:latin typeface="Arial"/>
                <a:ea typeface="Arial"/>
                <a:cs typeface="Arial"/>
              </a:defRPr>
            </a:lvl1pPr>
            <a:lvl2pPr>
              <a:defRPr sz="1200" b="0">
                <a:solidFill>
                  <a:srgbClr val="9BB3C4"/>
                </a:solidFill>
                <a:latin typeface="Arial"/>
                <a:ea typeface="Arial"/>
                <a:cs typeface="Arial"/>
              </a:defRPr>
            </a:lvl2pPr>
            <a:lvl3pPr>
              <a:defRPr sz="1200" b="0">
                <a:solidFill>
                  <a:srgbClr val="9BB3C4"/>
                </a:solidFill>
                <a:latin typeface="Arial"/>
                <a:ea typeface="Arial"/>
                <a:cs typeface="Arial"/>
              </a:defRPr>
            </a:lvl3pPr>
            <a:lvl4pPr>
              <a:defRPr sz="1200" b="0">
                <a:solidFill>
                  <a:srgbClr val="9BB3C4"/>
                </a:solidFill>
                <a:latin typeface="Arial"/>
                <a:ea typeface="Arial"/>
                <a:cs typeface="Arial"/>
              </a:defRPr>
            </a:lvl4pPr>
            <a:lvl5pPr>
              <a:defRPr sz="1200" b="0">
                <a:solidFill>
                  <a:srgbClr val="9BB3C4"/>
                </a:solidFill>
                <a:latin typeface="Arial"/>
                <a:ea typeface="Arial"/>
                <a:cs typeface="Arial"/>
              </a:defRPr>
            </a:lvl5pPr>
            <a:lvl6pPr>
              <a:defRPr sz="1200" b="0">
                <a:solidFill>
                  <a:srgbClr val="9BB3C4"/>
                </a:solidFill>
                <a:latin typeface="Arial"/>
                <a:ea typeface="Arial"/>
                <a:cs typeface="Arial"/>
              </a:defRPr>
            </a:lvl6pPr>
            <a:lvl7pPr>
              <a:defRPr sz="1200" b="0">
                <a:solidFill>
                  <a:srgbClr val="9BB3C4"/>
                </a:solidFill>
                <a:latin typeface="Arial"/>
                <a:ea typeface="Arial"/>
                <a:cs typeface="Arial"/>
              </a:defRPr>
            </a:lvl7pPr>
            <a:lvl8pPr>
              <a:defRPr sz="1200" b="0">
                <a:solidFill>
                  <a:srgbClr val="9BB3C4"/>
                </a:solidFill>
                <a:latin typeface="Arial"/>
                <a:ea typeface="Arial"/>
                <a:cs typeface="Arial"/>
              </a:defRPr>
            </a:lvl8pPr>
            <a:lvl9pPr>
              <a:defRPr sz="1200" b="0">
                <a:solidFill>
                  <a:srgbClr val="9BB3C4"/>
                </a:solidFill>
                <a:latin typeface="Arial"/>
                <a:ea typeface="Arial"/>
                <a:cs typeface="Arial"/>
              </a:defRPr>
            </a:lvl9pPr>
          </a:lstStyle>
          <a:p xmlns:a="http://schemas.openxmlformats.org/drawingml/2006/main">
            <a:pPr>
              <a:defRPr sz="1200" b="0">
                <a:solidFill>
                  <a:srgbClr val="9BB3C4"/>
                </a:solidFill>
                <a:latin typeface="Arial"/>
                <a:ea typeface="Arial"/>
                <a:cs typeface="Arial"/>
              </a:defRPr>
            </a:pPr>
            <a:r>
              <a:rPr sz="1200" b="0">
                <a:solidFill>
                  <a:srgbClr val="9BB3C4"/>
                </a:solidFill>
                <a:latin typeface="Arial"/>
                <a:ea typeface="Arial"/>
                <a:cs typeface="Arial"/>
              </a:rPr>
              <a:t>18</a:t>
            </a:r>
          </a:p>
        </p:txBody>
      </p:sp>
    </p:spTree>
    <p:extLst>
      <p:ext uri="{BB962C8B-B14F-4D97-AF65-F5344CB8AC3E}">
        <p14:creationId xmlns:p14="http://schemas.microsoft.com/office/powerpoint/2010/main" val="1867533285"/>
      </p:ext>
    </p:extLst>
  </p:cSld>
</p:sld>
</file>

<file path=ppt/slides/slide19.xml><?xml version="1.0" encoding="utf-8"?>
<p:sld xmlns:p="http://schemas.openxmlformats.org/presentationml/2006/main">
  <p:cSld>
    <p:bg>
      <p:bgPr>
        <a:solidFill xmlns:a="http://schemas.openxmlformats.org/drawingml/2006/main">
          <a:srgbClr val="101C2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3578668-299F-4BDE-BDAB-3A92DF1658B1}"/>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9FA"/>
                </a:solidFill>
                <a:latin typeface="Arial"/>
                <a:ea typeface="Arial"/>
                <a:cs typeface="Arial"/>
              </a:defRPr>
            </a:defPPr>
            <a:lvl1pPr>
              <a:defRPr sz="3300" b="1">
                <a:solidFill>
                  <a:srgbClr val="F5F9FA"/>
                </a:solidFill>
                <a:latin typeface="Arial"/>
                <a:ea typeface="Arial"/>
                <a:cs typeface="Arial"/>
              </a:defRPr>
            </a:lvl1pPr>
            <a:lvl2pPr>
              <a:defRPr sz="3300" b="1">
                <a:solidFill>
                  <a:srgbClr val="F5F9FA"/>
                </a:solidFill>
                <a:latin typeface="Arial"/>
                <a:ea typeface="Arial"/>
                <a:cs typeface="Arial"/>
              </a:defRPr>
            </a:lvl2pPr>
            <a:lvl3pPr>
              <a:defRPr sz="3300" b="1">
                <a:solidFill>
                  <a:srgbClr val="F5F9FA"/>
                </a:solidFill>
                <a:latin typeface="Arial"/>
                <a:ea typeface="Arial"/>
                <a:cs typeface="Arial"/>
              </a:defRPr>
            </a:lvl3pPr>
            <a:lvl4pPr>
              <a:defRPr sz="3300" b="1">
                <a:solidFill>
                  <a:srgbClr val="F5F9FA"/>
                </a:solidFill>
                <a:latin typeface="Arial"/>
                <a:ea typeface="Arial"/>
                <a:cs typeface="Arial"/>
              </a:defRPr>
            </a:lvl4pPr>
            <a:lvl5pPr>
              <a:defRPr sz="3300" b="1">
                <a:solidFill>
                  <a:srgbClr val="F5F9FA"/>
                </a:solidFill>
                <a:latin typeface="Arial"/>
                <a:ea typeface="Arial"/>
                <a:cs typeface="Arial"/>
              </a:defRPr>
            </a:lvl5pPr>
            <a:lvl6pPr>
              <a:defRPr sz="3300" b="1">
                <a:solidFill>
                  <a:srgbClr val="F5F9FA"/>
                </a:solidFill>
                <a:latin typeface="Arial"/>
                <a:ea typeface="Arial"/>
                <a:cs typeface="Arial"/>
              </a:defRPr>
            </a:lvl6pPr>
            <a:lvl7pPr>
              <a:defRPr sz="3300" b="1">
                <a:solidFill>
                  <a:srgbClr val="F5F9FA"/>
                </a:solidFill>
                <a:latin typeface="Arial"/>
                <a:ea typeface="Arial"/>
                <a:cs typeface="Arial"/>
              </a:defRPr>
            </a:lvl7pPr>
            <a:lvl8pPr>
              <a:defRPr sz="3300" b="1">
                <a:solidFill>
                  <a:srgbClr val="F5F9FA"/>
                </a:solidFill>
                <a:latin typeface="Arial"/>
                <a:ea typeface="Arial"/>
                <a:cs typeface="Arial"/>
              </a:defRPr>
            </a:lvl8pPr>
            <a:lvl9pPr>
              <a:defRPr sz="3300" b="1">
                <a:solidFill>
                  <a:srgbClr val="F5F9FA"/>
                </a:solidFill>
                <a:latin typeface="Arial"/>
                <a:ea typeface="Arial"/>
                <a:cs typeface="Arial"/>
              </a:defRPr>
            </a:lvl9pPr>
          </a:lstStyle>
          <a:p xmlns:a="http://schemas.openxmlformats.org/drawingml/2006/main">
            <a:pPr>
              <a:defRPr sz="3300" b="1">
                <a:solidFill>
                  <a:srgbClr val="F5F9FA"/>
                </a:solidFill>
                <a:latin typeface="Arial"/>
                <a:ea typeface="Arial"/>
                <a:cs typeface="Arial"/>
              </a:defRPr>
            </a:pPr>
            <a:r>
              <a:rPr sz="3300" b="1">
                <a:solidFill>
                  <a:srgbClr val="F5F9FA"/>
                </a:solidFill>
                <a:latin typeface="Arial"/>
                <a:ea typeface="Arial"/>
                <a:cs typeface="Arial"/>
              </a:rPr>
              <a:t>Сочетания и переназначение</a:t>
            </a:r>
          </a:p>
        </p:txBody>
      </p:sp>
      <p:sp>
        <p:nvSpPr>
          <p:cNvPr id="2" name="">
            <a:extLst xmlns:a="http://schemas.openxmlformats.org/drawingml/2006/main">
              <a:ext uri="{FF2B5EF4-FFF2-40B4-BE49-F238E27FC236}">
                <a16:creationId xmlns:a16="http://schemas.microsoft.com/office/drawing/2014/main" id="{0C72D971-9A5A-4D34-8213-4BDD8090B767}"/>
              </a:ext>
            </a:extLst>
          </p:cNvPr>
          <p:cNvSpPr>
            <a:spLocks xmlns:a="http://schemas.openxmlformats.org/drawingml/2006/main" noGrp="1"/>
          </p:cNvSpPr>
          <p:nvPr/>
        </p:nvSpPr>
        <p:spPr>
          <a:xfrm xmlns:a="http://schemas.openxmlformats.org/drawingml/2006/main">
            <a:off x="609600" y="1571625"/>
            <a:ext cx="70866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CE8ED"/>
                </a:solidFill>
                <a:latin typeface="Arial"/>
                <a:ea typeface="Arial"/>
                <a:cs typeface="Arial"/>
              </a:defRPr>
            </a:defPPr>
            <a:lvl1pPr>
              <a:defRPr sz="1725" b="0">
                <a:solidFill>
                  <a:srgbClr val="BCE8ED"/>
                </a:solidFill>
                <a:latin typeface="Arial"/>
                <a:ea typeface="Arial"/>
                <a:cs typeface="Arial"/>
              </a:defRPr>
            </a:lvl1pPr>
            <a:lvl2pPr>
              <a:defRPr sz="1725" b="0">
                <a:solidFill>
                  <a:srgbClr val="BCE8ED"/>
                </a:solidFill>
                <a:latin typeface="Arial"/>
                <a:ea typeface="Arial"/>
                <a:cs typeface="Arial"/>
              </a:defRPr>
            </a:lvl2pPr>
            <a:lvl3pPr>
              <a:defRPr sz="1725" b="0">
                <a:solidFill>
                  <a:srgbClr val="BCE8ED"/>
                </a:solidFill>
                <a:latin typeface="Arial"/>
                <a:ea typeface="Arial"/>
                <a:cs typeface="Arial"/>
              </a:defRPr>
            </a:lvl3pPr>
            <a:lvl4pPr>
              <a:defRPr sz="1725" b="0">
                <a:solidFill>
                  <a:srgbClr val="BCE8ED"/>
                </a:solidFill>
                <a:latin typeface="Arial"/>
                <a:ea typeface="Arial"/>
                <a:cs typeface="Arial"/>
              </a:defRPr>
            </a:lvl4pPr>
            <a:lvl5pPr>
              <a:defRPr sz="1725" b="0">
                <a:solidFill>
                  <a:srgbClr val="BCE8ED"/>
                </a:solidFill>
                <a:latin typeface="Arial"/>
                <a:ea typeface="Arial"/>
                <a:cs typeface="Arial"/>
              </a:defRPr>
            </a:lvl5pPr>
            <a:lvl6pPr>
              <a:defRPr sz="1725" b="0">
                <a:solidFill>
                  <a:srgbClr val="BCE8ED"/>
                </a:solidFill>
                <a:latin typeface="Arial"/>
                <a:ea typeface="Arial"/>
                <a:cs typeface="Arial"/>
              </a:defRPr>
            </a:lvl6pPr>
            <a:lvl7pPr>
              <a:defRPr sz="1725" b="0">
                <a:solidFill>
                  <a:srgbClr val="BCE8ED"/>
                </a:solidFill>
                <a:latin typeface="Arial"/>
                <a:ea typeface="Arial"/>
                <a:cs typeface="Arial"/>
              </a:defRPr>
            </a:lvl7pPr>
            <a:lvl8pPr>
              <a:defRPr sz="1725" b="0">
                <a:solidFill>
                  <a:srgbClr val="BCE8ED"/>
                </a:solidFill>
                <a:latin typeface="Arial"/>
                <a:ea typeface="Arial"/>
                <a:cs typeface="Arial"/>
              </a:defRPr>
            </a:lvl8pPr>
            <a:lvl9pPr>
              <a:defRPr sz="1725" b="0">
                <a:solidFill>
                  <a:srgbClr val="BCE8ED"/>
                </a:solidFill>
                <a:latin typeface="Arial"/>
                <a:ea typeface="Arial"/>
                <a:cs typeface="Arial"/>
              </a:defRPr>
            </a:lvl9pPr>
          </a:lstStyle>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Тот же обработчик действия Mark</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input.Unbind(Input::Context::Game, "Mark");</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input.Bind({"Mark", Input::Context::Game,</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{Keys::Alt, Keys::K, Keys::J}});</a:t>
            </a:r>
          </a:p>
          <a:p xmlns:a="http://schemas.openxmlformats.org/drawingml/2006/main">
            <a:r>
              <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Две привязки одной оси</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input.Bind({"MoveX", Input::Context::Game,</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{Keys::D}, 1});</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input.Bind({"MoveX", Input::Context::Game,</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{Keys::A}, -1});</a:t>
            </a:r>
          </a:p>
        </p:txBody>
      </p:sp>
      <p:sp>
        <p:nvSpPr>
          <p:cNvPr id="3" name="">
            <a:extLst xmlns:a="http://schemas.openxmlformats.org/drawingml/2006/main">
              <a:ext uri="{FF2B5EF4-FFF2-40B4-BE49-F238E27FC236}">
                <a16:creationId xmlns:a16="http://schemas.microsoft.com/office/drawing/2014/main" id="{08F2DA68-B9F4-4AB0-8A42-ECD507333710}"/>
              </a:ext>
            </a:extLst>
          </p:cNvPr>
          <p:cNvSpPr>
            <a:spLocks xmlns:a="http://schemas.openxmlformats.org/drawingml/2006/main" noGrp="1"/>
          </p:cNvSpPr>
          <p:nvPr/>
        </p:nvSpPr>
        <p:spPr>
          <a:xfrm xmlns:a="http://schemas.openxmlformats.org/drawingml/2006/main">
            <a:off x="8001000" y="1638300"/>
            <a:ext cx="35814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E1E9EF"/>
                </a:solidFill>
                <a:latin typeface="Arial"/>
                <a:ea typeface="Arial"/>
                <a:cs typeface="Arial"/>
              </a:defRPr>
            </a:defPPr>
            <a:lvl1pPr>
              <a:defRPr sz="1875" b="0">
                <a:solidFill>
                  <a:srgbClr val="E1E9EF"/>
                </a:solidFill>
                <a:latin typeface="Arial"/>
                <a:ea typeface="Arial"/>
                <a:cs typeface="Arial"/>
              </a:defRPr>
            </a:lvl1pPr>
            <a:lvl2pPr>
              <a:defRPr sz="1875" b="0">
                <a:solidFill>
                  <a:srgbClr val="E1E9EF"/>
                </a:solidFill>
                <a:latin typeface="Arial"/>
                <a:ea typeface="Arial"/>
                <a:cs typeface="Arial"/>
              </a:defRPr>
            </a:lvl2pPr>
            <a:lvl3pPr>
              <a:defRPr sz="1875" b="0">
                <a:solidFill>
                  <a:srgbClr val="E1E9EF"/>
                </a:solidFill>
                <a:latin typeface="Arial"/>
                <a:ea typeface="Arial"/>
                <a:cs typeface="Arial"/>
              </a:defRPr>
            </a:lvl3pPr>
            <a:lvl4pPr>
              <a:defRPr sz="1875" b="0">
                <a:solidFill>
                  <a:srgbClr val="E1E9EF"/>
                </a:solidFill>
                <a:latin typeface="Arial"/>
                <a:ea typeface="Arial"/>
                <a:cs typeface="Arial"/>
              </a:defRPr>
            </a:lvl4pPr>
            <a:lvl5pPr>
              <a:defRPr sz="1875" b="0">
                <a:solidFill>
                  <a:srgbClr val="E1E9EF"/>
                </a:solidFill>
                <a:latin typeface="Arial"/>
                <a:ea typeface="Arial"/>
                <a:cs typeface="Arial"/>
              </a:defRPr>
            </a:lvl5pPr>
            <a:lvl6pPr>
              <a:defRPr sz="1875" b="0">
                <a:solidFill>
                  <a:srgbClr val="E1E9EF"/>
                </a:solidFill>
                <a:latin typeface="Arial"/>
                <a:ea typeface="Arial"/>
                <a:cs typeface="Arial"/>
              </a:defRPr>
            </a:lvl6pPr>
            <a:lvl7pPr>
              <a:defRPr sz="1875" b="0">
                <a:solidFill>
                  <a:srgbClr val="E1E9EF"/>
                </a:solidFill>
                <a:latin typeface="Arial"/>
                <a:ea typeface="Arial"/>
                <a:cs typeface="Arial"/>
              </a:defRPr>
            </a:lvl7pPr>
            <a:lvl8pPr>
              <a:defRPr sz="1875" b="0">
                <a:solidFill>
                  <a:srgbClr val="E1E9EF"/>
                </a:solidFill>
                <a:latin typeface="Arial"/>
                <a:ea typeface="Arial"/>
                <a:cs typeface="Arial"/>
              </a:defRPr>
            </a:lvl8pPr>
            <a:lvl9pPr>
              <a:defRPr sz="1875" b="0">
                <a:solidFill>
                  <a:srgbClr val="E1E9EF"/>
                </a:solidFill>
                <a:latin typeface="Arial"/>
                <a:ea typeface="Arial"/>
                <a:cs typeface="Arial"/>
              </a:defRPr>
            </a:lvl9pPr>
          </a:lstStyle>
          <a:p xmlns:a="http://schemas.openxmlformats.org/drawingml/2006/main">
            <a:pPr>
              <a:defRPr sz="1875" b="0">
                <a:solidFill>
                  <a:srgbClr val="E1E9EF"/>
                </a:solidFill>
                <a:latin typeface="Arial"/>
                <a:ea typeface="Arial"/>
                <a:cs typeface="Arial"/>
              </a:defRPr>
            </a:pPr>
            <a:r>
              <a:rPr sz="1875" b="0">
                <a:solidFill>
                  <a:srgbClr val="E1E9EF"/>
                </a:solidFill>
                <a:latin typeface="Arial"/>
                <a:ea typeface="Arial"/>
                <a:cs typeface="Arial"/>
              </a:rPr>
              <a:t>Все клавиши сочетания должны удерживаться одновременно.</a:t>
            </a:r>
          </a:p>
          <a:p xmlns:a="http://schemas.openxmlformats.org/drawingml/2006/main">
            <a:r>
              <a:t/>
            </a:r>
          </a:p>
          <a:p xmlns:a="http://schemas.openxmlformats.org/drawingml/2006/main">
            <a:pPr>
              <a:defRPr sz="1875" b="0">
                <a:solidFill>
                  <a:srgbClr val="E1E9EF"/>
                </a:solidFill>
                <a:latin typeface="Arial"/>
                <a:ea typeface="Arial"/>
                <a:cs typeface="Arial"/>
              </a:defRPr>
            </a:pPr>
            <a:r>
              <a:rPr sz="1875" b="0">
                <a:solidFill>
                  <a:srgbClr val="E1E9EF"/>
                </a:solidFill>
                <a:latin typeface="Arial"/>
                <a:ea typeface="Arial"/>
                <a:cs typeface="Arial"/>
              </a:rPr>
              <a:t>По умолчанию более специфичная комбинация поглощает обычную клавишу.</a:t>
            </a:r>
          </a:p>
          <a:p xmlns:a="http://schemas.openxmlformats.org/drawingml/2006/main">
            <a:r>
              <a:t/>
            </a:r>
          </a:p>
          <a:p xmlns:a="http://schemas.openxmlformats.org/drawingml/2006/main">
            <a:pPr>
              <a:defRPr sz="1875" b="0">
                <a:solidFill>
                  <a:srgbClr val="E1E9EF"/>
                </a:solidFill>
                <a:latin typeface="Arial"/>
                <a:ea typeface="Arial"/>
                <a:cs typeface="Arial"/>
              </a:defRPr>
            </a:pPr>
            <a:r>
              <a:rPr sz="1875" b="0">
                <a:solidFill>
                  <a:srgbClr val="E1E9EF"/>
                </a:solidFill>
                <a:latin typeface="Arial"/>
                <a:ea typeface="Arial"/>
                <a:cs typeface="Arial"/>
              </a:rPr>
              <a:t>A + D даёт ноль по оси.</a:t>
            </a:r>
          </a:p>
        </p:txBody>
      </p:sp>
      <p:sp>
        <p:nvSpPr>
          <p:cNvPr id="4" name="">
            <a:extLst xmlns:a="http://schemas.openxmlformats.org/drawingml/2006/main">
              <a:ext uri="{FF2B5EF4-FFF2-40B4-BE49-F238E27FC236}">
                <a16:creationId xmlns:a16="http://schemas.microsoft.com/office/drawing/2014/main" id="{6F97D02F-E380-40C5-9DEA-62960DC0799D}"/>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BB3C4"/>
                </a:solidFill>
                <a:latin typeface="Arial"/>
                <a:ea typeface="Arial"/>
                <a:cs typeface="Arial"/>
              </a:defRPr>
            </a:defPPr>
            <a:lvl1pPr>
              <a:defRPr sz="1200" b="0">
                <a:solidFill>
                  <a:srgbClr val="9BB3C4"/>
                </a:solidFill>
                <a:latin typeface="Arial"/>
                <a:ea typeface="Arial"/>
                <a:cs typeface="Arial"/>
              </a:defRPr>
            </a:lvl1pPr>
            <a:lvl2pPr>
              <a:defRPr sz="1200" b="0">
                <a:solidFill>
                  <a:srgbClr val="9BB3C4"/>
                </a:solidFill>
                <a:latin typeface="Arial"/>
                <a:ea typeface="Arial"/>
                <a:cs typeface="Arial"/>
              </a:defRPr>
            </a:lvl2pPr>
            <a:lvl3pPr>
              <a:defRPr sz="1200" b="0">
                <a:solidFill>
                  <a:srgbClr val="9BB3C4"/>
                </a:solidFill>
                <a:latin typeface="Arial"/>
                <a:ea typeface="Arial"/>
                <a:cs typeface="Arial"/>
              </a:defRPr>
            </a:lvl3pPr>
            <a:lvl4pPr>
              <a:defRPr sz="1200" b="0">
                <a:solidFill>
                  <a:srgbClr val="9BB3C4"/>
                </a:solidFill>
                <a:latin typeface="Arial"/>
                <a:ea typeface="Arial"/>
                <a:cs typeface="Arial"/>
              </a:defRPr>
            </a:lvl4pPr>
            <a:lvl5pPr>
              <a:defRPr sz="1200" b="0">
                <a:solidFill>
                  <a:srgbClr val="9BB3C4"/>
                </a:solidFill>
                <a:latin typeface="Arial"/>
                <a:ea typeface="Arial"/>
                <a:cs typeface="Arial"/>
              </a:defRPr>
            </a:lvl5pPr>
            <a:lvl6pPr>
              <a:defRPr sz="1200" b="0">
                <a:solidFill>
                  <a:srgbClr val="9BB3C4"/>
                </a:solidFill>
                <a:latin typeface="Arial"/>
                <a:ea typeface="Arial"/>
                <a:cs typeface="Arial"/>
              </a:defRPr>
            </a:lvl6pPr>
            <a:lvl7pPr>
              <a:defRPr sz="1200" b="0">
                <a:solidFill>
                  <a:srgbClr val="9BB3C4"/>
                </a:solidFill>
                <a:latin typeface="Arial"/>
                <a:ea typeface="Arial"/>
                <a:cs typeface="Arial"/>
              </a:defRPr>
            </a:lvl7pPr>
            <a:lvl8pPr>
              <a:defRPr sz="1200" b="0">
                <a:solidFill>
                  <a:srgbClr val="9BB3C4"/>
                </a:solidFill>
                <a:latin typeface="Arial"/>
                <a:ea typeface="Arial"/>
                <a:cs typeface="Arial"/>
              </a:defRPr>
            </a:lvl8pPr>
            <a:lvl9pPr>
              <a:defRPr sz="1200" b="0">
                <a:solidFill>
                  <a:srgbClr val="9BB3C4"/>
                </a:solidFill>
                <a:latin typeface="Arial"/>
                <a:ea typeface="Arial"/>
                <a:cs typeface="Arial"/>
              </a:defRPr>
            </a:lvl9pPr>
          </a:lstStyle>
          <a:p xmlns:a="http://schemas.openxmlformats.org/drawingml/2006/main">
            <a:pPr>
              <a:defRPr sz="1200" b="0">
                <a:solidFill>
                  <a:srgbClr val="9BB3C4"/>
                </a:solidFill>
                <a:latin typeface="Arial"/>
                <a:ea typeface="Arial"/>
                <a:cs typeface="Arial"/>
              </a:defRPr>
            </a:pPr>
            <a:r>
              <a:rPr sz="1200" b="0">
                <a:solidFill>
                  <a:srgbClr val="9BB3C4"/>
                </a:solidFill>
                <a:latin typeface="Arial"/>
                <a:ea typeface="Arial"/>
                <a:cs typeface="Arial"/>
              </a:rPr>
              <a:t>19</a:t>
            </a:r>
          </a:p>
        </p:txBody>
      </p:sp>
    </p:spTree>
    <p:extLst>
      <p:ext uri="{BB962C8B-B14F-4D97-AF65-F5344CB8AC3E}">
        <p14:creationId xmlns:p14="http://schemas.microsoft.com/office/powerpoint/2010/main" val="505230193"/>
      </p:ext>
    </p:extLst>
  </p:cSld>
</p:sld>
</file>

<file path=ppt/slides/slide20.xml><?xml version="1.0" encoding="utf-8"?>
<p:sld xmlns:p="http://schemas.openxmlformats.org/presentationml/2006/main">
  <p:cSld>
    <p:bg>
      <p:bgPr>
        <a:solidFill xmlns:a="http://schemas.openxmlformats.org/drawingml/2006/main">
          <a:srgbClr val="101C29"/>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3609B3C-E096-4EEC-B108-FB635A3C31D8}"/>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F5F9FA"/>
                </a:solidFill>
                <a:latin typeface="Arial"/>
                <a:ea typeface="Arial"/>
                <a:cs typeface="Arial"/>
              </a:defRPr>
            </a:defPPr>
            <a:lvl1pPr>
              <a:defRPr sz="3300" b="1">
                <a:solidFill>
                  <a:srgbClr val="F5F9FA"/>
                </a:solidFill>
                <a:latin typeface="Arial"/>
                <a:ea typeface="Arial"/>
                <a:cs typeface="Arial"/>
              </a:defRPr>
            </a:lvl1pPr>
            <a:lvl2pPr>
              <a:defRPr sz="3300" b="1">
                <a:solidFill>
                  <a:srgbClr val="F5F9FA"/>
                </a:solidFill>
                <a:latin typeface="Arial"/>
                <a:ea typeface="Arial"/>
                <a:cs typeface="Arial"/>
              </a:defRPr>
            </a:lvl2pPr>
            <a:lvl3pPr>
              <a:defRPr sz="3300" b="1">
                <a:solidFill>
                  <a:srgbClr val="F5F9FA"/>
                </a:solidFill>
                <a:latin typeface="Arial"/>
                <a:ea typeface="Arial"/>
                <a:cs typeface="Arial"/>
              </a:defRPr>
            </a:lvl3pPr>
            <a:lvl4pPr>
              <a:defRPr sz="3300" b="1">
                <a:solidFill>
                  <a:srgbClr val="F5F9FA"/>
                </a:solidFill>
                <a:latin typeface="Arial"/>
                <a:ea typeface="Arial"/>
                <a:cs typeface="Arial"/>
              </a:defRPr>
            </a:lvl4pPr>
            <a:lvl5pPr>
              <a:defRPr sz="3300" b="1">
                <a:solidFill>
                  <a:srgbClr val="F5F9FA"/>
                </a:solidFill>
                <a:latin typeface="Arial"/>
                <a:ea typeface="Arial"/>
                <a:cs typeface="Arial"/>
              </a:defRPr>
            </a:lvl5pPr>
            <a:lvl6pPr>
              <a:defRPr sz="3300" b="1">
                <a:solidFill>
                  <a:srgbClr val="F5F9FA"/>
                </a:solidFill>
                <a:latin typeface="Arial"/>
                <a:ea typeface="Arial"/>
                <a:cs typeface="Arial"/>
              </a:defRPr>
            </a:lvl6pPr>
            <a:lvl7pPr>
              <a:defRPr sz="3300" b="1">
                <a:solidFill>
                  <a:srgbClr val="F5F9FA"/>
                </a:solidFill>
                <a:latin typeface="Arial"/>
                <a:ea typeface="Arial"/>
                <a:cs typeface="Arial"/>
              </a:defRPr>
            </a:lvl7pPr>
            <a:lvl8pPr>
              <a:defRPr sz="3300" b="1">
                <a:solidFill>
                  <a:srgbClr val="F5F9FA"/>
                </a:solidFill>
                <a:latin typeface="Arial"/>
                <a:ea typeface="Arial"/>
                <a:cs typeface="Arial"/>
              </a:defRPr>
            </a:lvl8pPr>
            <a:lvl9pPr>
              <a:defRPr sz="3300" b="1">
                <a:solidFill>
                  <a:srgbClr val="F5F9FA"/>
                </a:solidFill>
                <a:latin typeface="Arial"/>
                <a:ea typeface="Arial"/>
                <a:cs typeface="Arial"/>
              </a:defRPr>
            </a:lvl9pPr>
          </a:lstStyle>
          <a:p xmlns:a="http://schemas.openxmlformats.org/drawingml/2006/main">
            <a:pPr>
              <a:defRPr sz="3300" b="1">
                <a:solidFill>
                  <a:srgbClr val="F5F9FA"/>
                </a:solidFill>
                <a:latin typeface="Arial"/>
                <a:ea typeface="Arial"/>
                <a:cs typeface="Arial"/>
              </a:defRPr>
            </a:pPr>
            <a:r>
              <a:rPr sz="3300" b="1">
                <a:solidFill>
                  <a:srgbClr val="F5F9FA"/>
                </a:solidFill>
                <a:latin typeface="Arial"/>
                <a:ea typeface="Arial"/>
                <a:cs typeface="Arial"/>
              </a:rPr>
              <a:t>Своя схема управления</a:t>
            </a:r>
          </a:p>
        </p:txBody>
      </p:sp>
      <p:sp>
        <p:nvSpPr>
          <p:cNvPr id="2" name="">
            <a:extLst xmlns:a="http://schemas.openxmlformats.org/drawingml/2006/main">
              <a:ext uri="{FF2B5EF4-FFF2-40B4-BE49-F238E27FC236}">
                <a16:creationId xmlns:a16="http://schemas.microsoft.com/office/drawing/2014/main" id="{D1DA0609-5868-4BCA-8A3A-EA48659CA09B}"/>
              </a:ext>
            </a:extLst>
          </p:cNvPr>
          <p:cNvSpPr>
            <a:spLocks xmlns:a="http://schemas.openxmlformats.org/drawingml/2006/main" noGrp="1"/>
          </p:cNvSpPr>
          <p:nvPr/>
        </p:nvSpPr>
        <p:spPr>
          <a:xfrm xmlns:a="http://schemas.openxmlformats.org/drawingml/2006/main">
            <a:off x="609600" y="1571625"/>
            <a:ext cx="7086600" cy="428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BCE8ED"/>
                </a:solidFill>
                <a:latin typeface="Arial"/>
                <a:ea typeface="Arial"/>
                <a:cs typeface="Arial"/>
              </a:defRPr>
            </a:defPPr>
            <a:lvl1pPr>
              <a:defRPr sz="1725" b="0">
                <a:solidFill>
                  <a:srgbClr val="BCE8ED"/>
                </a:solidFill>
                <a:latin typeface="Arial"/>
                <a:ea typeface="Arial"/>
                <a:cs typeface="Arial"/>
              </a:defRPr>
            </a:lvl1pPr>
            <a:lvl2pPr>
              <a:defRPr sz="1725" b="0">
                <a:solidFill>
                  <a:srgbClr val="BCE8ED"/>
                </a:solidFill>
                <a:latin typeface="Arial"/>
                <a:ea typeface="Arial"/>
                <a:cs typeface="Arial"/>
              </a:defRPr>
            </a:lvl2pPr>
            <a:lvl3pPr>
              <a:defRPr sz="1725" b="0">
                <a:solidFill>
                  <a:srgbClr val="BCE8ED"/>
                </a:solidFill>
                <a:latin typeface="Arial"/>
                <a:ea typeface="Arial"/>
                <a:cs typeface="Arial"/>
              </a:defRPr>
            </a:lvl3pPr>
            <a:lvl4pPr>
              <a:defRPr sz="1725" b="0">
                <a:solidFill>
                  <a:srgbClr val="BCE8ED"/>
                </a:solidFill>
                <a:latin typeface="Arial"/>
                <a:ea typeface="Arial"/>
                <a:cs typeface="Arial"/>
              </a:defRPr>
            </a:lvl4pPr>
            <a:lvl5pPr>
              <a:defRPr sz="1725" b="0">
                <a:solidFill>
                  <a:srgbClr val="BCE8ED"/>
                </a:solidFill>
                <a:latin typeface="Arial"/>
                <a:ea typeface="Arial"/>
                <a:cs typeface="Arial"/>
              </a:defRPr>
            </a:lvl5pPr>
            <a:lvl6pPr>
              <a:defRPr sz="1725" b="0">
                <a:solidFill>
                  <a:srgbClr val="BCE8ED"/>
                </a:solidFill>
                <a:latin typeface="Arial"/>
                <a:ea typeface="Arial"/>
                <a:cs typeface="Arial"/>
              </a:defRPr>
            </a:lvl6pPr>
            <a:lvl7pPr>
              <a:defRPr sz="1725" b="0">
                <a:solidFill>
                  <a:srgbClr val="BCE8ED"/>
                </a:solidFill>
                <a:latin typeface="Arial"/>
                <a:ea typeface="Arial"/>
                <a:cs typeface="Arial"/>
              </a:defRPr>
            </a:lvl7pPr>
            <a:lvl8pPr>
              <a:defRPr sz="1725" b="0">
                <a:solidFill>
                  <a:srgbClr val="BCE8ED"/>
                </a:solidFill>
                <a:latin typeface="Arial"/>
                <a:ea typeface="Arial"/>
                <a:cs typeface="Arial"/>
              </a:defRPr>
            </a:lvl8pPr>
            <a:lvl9pPr>
              <a:defRPr sz="1725" b="0">
                <a:solidFill>
                  <a:srgbClr val="BCE8ED"/>
                </a:solidFill>
                <a:latin typeface="Arial"/>
                <a:ea typeface="Arial"/>
                <a:cs typeface="Arial"/>
              </a:defRPr>
            </a:lvl9pPr>
          </a:lstStyle>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class MyController : public CharacterController {</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public:</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using CharacterController::CharacterController;</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void BindInput() override {</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game_.GetInput().Bind({"Go",</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Input::Context::Game, {Keys::I}});</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connections_.push_back(game_.GetInput().Subscribe(</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inputScope_, Input::Context::Game, "Go",</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Input::Phase::Axis,</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[this](const Input::Event&amp; e) {</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forward_ = e.value;</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    }</a:t>
            </a:r>
          </a:p>
          <a:p xmlns:a="http://schemas.openxmlformats.org/drawingml/2006/main">
            <a:pPr>
              <a:defRPr sz="1725" b="0">
                <a:solidFill>
                  <a:srgbClr val="BCE8ED"/>
                </a:solidFill>
                <a:latin typeface="Arial"/>
                <a:ea typeface="Arial"/>
                <a:cs typeface="Arial"/>
              </a:defRPr>
            </a:pPr>
            <a:r>
              <a:rPr sz="1725" b="0">
                <a:solidFill>
                  <a:srgbClr val="BCE8ED"/>
                </a:solidFill>
                <a:latin typeface="Arial"/>
                <a:ea typeface="Arial"/>
                <a:cs typeface="Arial"/>
              </a:rPr>
              <a:t>};</a:t>
            </a:r>
          </a:p>
        </p:txBody>
      </p:sp>
      <p:sp>
        <p:nvSpPr>
          <p:cNvPr id="3" name="">
            <a:extLst xmlns:a="http://schemas.openxmlformats.org/drawingml/2006/main">
              <a:ext uri="{FF2B5EF4-FFF2-40B4-BE49-F238E27FC236}">
                <a16:creationId xmlns:a16="http://schemas.microsoft.com/office/drawing/2014/main" id="{786E10BA-B7DD-46C2-B31A-67AE080FE047}"/>
              </a:ext>
            </a:extLst>
          </p:cNvPr>
          <p:cNvSpPr>
            <a:spLocks xmlns:a="http://schemas.openxmlformats.org/drawingml/2006/main" noGrp="1"/>
          </p:cNvSpPr>
          <p:nvPr/>
        </p:nvSpPr>
        <p:spPr>
          <a:xfrm xmlns:a="http://schemas.openxmlformats.org/drawingml/2006/main">
            <a:off x="8001000" y="1638300"/>
            <a:ext cx="35814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E1E9EF"/>
                </a:solidFill>
                <a:latin typeface="Arial"/>
                <a:ea typeface="Arial"/>
                <a:cs typeface="Arial"/>
              </a:defRPr>
            </a:defPPr>
            <a:lvl1pPr>
              <a:defRPr sz="1875" b="0">
                <a:solidFill>
                  <a:srgbClr val="E1E9EF"/>
                </a:solidFill>
                <a:latin typeface="Arial"/>
                <a:ea typeface="Arial"/>
                <a:cs typeface="Arial"/>
              </a:defRPr>
            </a:lvl1pPr>
            <a:lvl2pPr>
              <a:defRPr sz="1875" b="0">
                <a:solidFill>
                  <a:srgbClr val="E1E9EF"/>
                </a:solidFill>
                <a:latin typeface="Arial"/>
                <a:ea typeface="Arial"/>
                <a:cs typeface="Arial"/>
              </a:defRPr>
            </a:lvl2pPr>
            <a:lvl3pPr>
              <a:defRPr sz="1875" b="0">
                <a:solidFill>
                  <a:srgbClr val="E1E9EF"/>
                </a:solidFill>
                <a:latin typeface="Arial"/>
                <a:ea typeface="Arial"/>
                <a:cs typeface="Arial"/>
              </a:defRPr>
            </a:lvl3pPr>
            <a:lvl4pPr>
              <a:defRPr sz="1875" b="0">
                <a:solidFill>
                  <a:srgbClr val="E1E9EF"/>
                </a:solidFill>
                <a:latin typeface="Arial"/>
                <a:ea typeface="Arial"/>
                <a:cs typeface="Arial"/>
              </a:defRPr>
            </a:lvl4pPr>
            <a:lvl5pPr>
              <a:defRPr sz="1875" b="0">
                <a:solidFill>
                  <a:srgbClr val="E1E9EF"/>
                </a:solidFill>
                <a:latin typeface="Arial"/>
                <a:ea typeface="Arial"/>
                <a:cs typeface="Arial"/>
              </a:defRPr>
            </a:lvl5pPr>
            <a:lvl6pPr>
              <a:defRPr sz="1875" b="0">
                <a:solidFill>
                  <a:srgbClr val="E1E9EF"/>
                </a:solidFill>
                <a:latin typeface="Arial"/>
                <a:ea typeface="Arial"/>
                <a:cs typeface="Arial"/>
              </a:defRPr>
            </a:lvl6pPr>
            <a:lvl7pPr>
              <a:defRPr sz="1875" b="0">
                <a:solidFill>
                  <a:srgbClr val="E1E9EF"/>
                </a:solidFill>
                <a:latin typeface="Arial"/>
                <a:ea typeface="Arial"/>
                <a:cs typeface="Arial"/>
              </a:defRPr>
            </a:lvl7pPr>
            <a:lvl8pPr>
              <a:defRPr sz="1875" b="0">
                <a:solidFill>
                  <a:srgbClr val="E1E9EF"/>
                </a:solidFill>
                <a:latin typeface="Arial"/>
                <a:ea typeface="Arial"/>
                <a:cs typeface="Arial"/>
              </a:defRPr>
            </a:lvl8pPr>
            <a:lvl9pPr>
              <a:defRPr sz="1875" b="0">
                <a:solidFill>
                  <a:srgbClr val="E1E9EF"/>
                </a:solidFill>
                <a:latin typeface="Arial"/>
                <a:ea typeface="Arial"/>
                <a:cs typeface="Arial"/>
              </a:defRPr>
            </a:lvl9pPr>
          </a:lstStyle>
          <a:p xmlns:a="http://schemas.openxmlformats.org/drawingml/2006/main">
            <a:pPr>
              <a:defRPr sz="1875" b="0">
                <a:solidFill>
                  <a:srgbClr val="E1E9EF"/>
                </a:solidFill>
                <a:latin typeface="Arial"/>
                <a:ea typeface="Arial"/>
                <a:cs typeface="Arial"/>
              </a:defRPr>
            </a:pPr>
            <a:r>
              <a:rPr sz="1875" b="0">
                <a:solidFill>
                  <a:srgbClr val="E1E9EF"/>
                </a:solidFill>
                <a:latin typeface="Arial"/>
                <a:ea typeface="Arial"/>
                <a:cs typeface="Arial"/>
              </a:rPr>
              <a:t>Этот вариант заменяет стандартные привязки: I задаёт движение вперёд.</a:t>
            </a:r>
          </a:p>
          <a:p xmlns:a="http://schemas.openxmlformats.org/drawingml/2006/main">
            <a:r>
              <a:t/>
            </a:r>
          </a:p>
          <a:p xmlns:a="http://schemas.openxmlformats.org/drawingml/2006/main">
            <a:pPr>
              <a:defRPr sz="1875" b="0">
                <a:solidFill>
                  <a:srgbClr val="E1E9EF"/>
                </a:solidFill>
                <a:latin typeface="Arial"/>
                <a:ea typeface="Arial"/>
                <a:cs typeface="Arial"/>
              </a:defRPr>
            </a:pPr>
            <a:r>
              <a:rPr sz="1875" b="0">
                <a:solidFill>
                  <a:srgbClr val="E1E9EF"/>
                </a:solidFill>
                <a:latin typeface="Arial"/>
                <a:ea typeface="Arial"/>
                <a:cs typeface="Arial"/>
              </a:rPr>
              <a:t>Game выбирает контроллер через CreateCharacterController().</a:t>
            </a:r>
          </a:p>
          <a:p xmlns:a="http://schemas.openxmlformats.org/drawingml/2006/main">
            <a:r>
              <a:t/>
            </a:r>
          </a:p>
          <a:p xmlns:a="http://schemas.openxmlformats.org/drawingml/2006/main">
            <a:pPr>
              <a:defRPr sz="1875" b="0">
                <a:solidFill>
                  <a:srgbClr val="E1E9EF"/>
                </a:solidFill>
                <a:latin typeface="Arial"/>
                <a:ea typeface="Arial"/>
                <a:cs typeface="Arial"/>
              </a:defRPr>
            </a:pPr>
            <a:r>
              <a:rPr sz="1875" b="0">
                <a:solidFill>
                  <a:srgbClr val="E1E9EF"/>
                </a:solidFill>
                <a:latin typeface="Arial"/>
                <a:ea typeface="Arial"/>
                <a:cs typeface="Arial"/>
              </a:rPr>
              <a:t>Для своей камеры переопределите UpdateCamera().</a:t>
            </a:r>
          </a:p>
        </p:txBody>
      </p:sp>
      <p:sp>
        <p:nvSpPr>
          <p:cNvPr id="4" name="">
            <a:extLst xmlns:a="http://schemas.openxmlformats.org/drawingml/2006/main">
              <a:ext uri="{FF2B5EF4-FFF2-40B4-BE49-F238E27FC236}">
                <a16:creationId xmlns:a16="http://schemas.microsoft.com/office/drawing/2014/main" id="{0A8D4DF5-6F17-4A05-BEA4-3A863ECE86B9}"/>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9BB3C4"/>
                </a:solidFill>
                <a:latin typeface="Arial"/>
                <a:ea typeface="Arial"/>
                <a:cs typeface="Arial"/>
              </a:defRPr>
            </a:defPPr>
            <a:lvl1pPr>
              <a:defRPr sz="1200" b="0">
                <a:solidFill>
                  <a:srgbClr val="9BB3C4"/>
                </a:solidFill>
                <a:latin typeface="Arial"/>
                <a:ea typeface="Arial"/>
                <a:cs typeface="Arial"/>
              </a:defRPr>
            </a:lvl1pPr>
            <a:lvl2pPr>
              <a:defRPr sz="1200" b="0">
                <a:solidFill>
                  <a:srgbClr val="9BB3C4"/>
                </a:solidFill>
                <a:latin typeface="Arial"/>
                <a:ea typeface="Arial"/>
                <a:cs typeface="Arial"/>
              </a:defRPr>
            </a:lvl2pPr>
            <a:lvl3pPr>
              <a:defRPr sz="1200" b="0">
                <a:solidFill>
                  <a:srgbClr val="9BB3C4"/>
                </a:solidFill>
                <a:latin typeface="Arial"/>
                <a:ea typeface="Arial"/>
                <a:cs typeface="Arial"/>
              </a:defRPr>
            </a:lvl3pPr>
            <a:lvl4pPr>
              <a:defRPr sz="1200" b="0">
                <a:solidFill>
                  <a:srgbClr val="9BB3C4"/>
                </a:solidFill>
                <a:latin typeface="Arial"/>
                <a:ea typeface="Arial"/>
                <a:cs typeface="Arial"/>
              </a:defRPr>
            </a:lvl4pPr>
            <a:lvl5pPr>
              <a:defRPr sz="1200" b="0">
                <a:solidFill>
                  <a:srgbClr val="9BB3C4"/>
                </a:solidFill>
                <a:latin typeface="Arial"/>
                <a:ea typeface="Arial"/>
                <a:cs typeface="Arial"/>
              </a:defRPr>
            </a:lvl5pPr>
            <a:lvl6pPr>
              <a:defRPr sz="1200" b="0">
                <a:solidFill>
                  <a:srgbClr val="9BB3C4"/>
                </a:solidFill>
                <a:latin typeface="Arial"/>
                <a:ea typeface="Arial"/>
                <a:cs typeface="Arial"/>
              </a:defRPr>
            </a:lvl6pPr>
            <a:lvl7pPr>
              <a:defRPr sz="1200" b="0">
                <a:solidFill>
                  <a:srgbClr val="9BB3C4"/>
                </a:solidFill>
                <a:latin typeface="Arial"/>
                <a:ea typeface="Arial"/>
                <a:cs typeface="Arial"/>
              </a:defRPr>
            </a:lvl7pPr>
            <a:lvl8pPr>
              <a:defRPr sz="1200" b="0">
                <a:solidFill>
                  <a:srgbClr val="9BB3C4"/>
                </a:solidFill>
                <a:latin typeface="Arial"/>
                <a:ea typeface="Arial"/>
                <a:cs typeface="Arial"/>
              </a:defRPr>
            </a:lvl8pPr>
            <a:lvl9pPr>
              <a:defRPr sz="1200" b="0">
                <a:solidFill>
                  <a:srgbClr val="9BB3C4"/>
                </a:solidFill>
                <a:latin typeface="Arial"/>
                <a:ea typeface="Arial"/>
                <a:cs typeface="Arial"/>
              </a:defRPr>
            </a:lvl9pPr>
          </a:lstStyle>
          <a:p xmlns:a="http://schemas.openxmlformats.org/drawingml/2006/main">
            <a:pPr>
              <a:defRPr sz="1200" b="0">
                <a:solidFill>
                  <a:srgbClr val="9BB3C4"/>
                </a:solidFill>
                <a:latin typeface="Arial"/>
                <a:ea typeface="Arial"/>
                <a:cs typeface="Arial"/>
              </a:defRPr>
            </a:pPr>
            <a:r>
              <a:rPr sz="1200" b="0">
                <a:solidFill>
                  <a:srgbClr val="9BB3C4"/>
                </a:solidFill>
                <a:latin typeface="Arial"/>
                <a:ea typeface="Arial"/>
                <a:cs typeface="Arial"/>
              </a:rPr>
              <a:t>20</a:t>
            </a:r>
          </a:p>
        </p:txBody>
      </p:sp>
    </p:spTree>
    <p:extLst>
      <p:ext uri="{BB962C8B-B14F-4D97-AF65-F5344CB8AC3E}">
        <p14:creationId xmlns:p14="http://schemas.microsoft.com/office/powerpoint/2010/main" val="1175744366"/>
      </p:ext>
    </p:extLst>
  </p:cSld>
</p:sld>
</file>

<file path=ppt/slides/slide21.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9570EBCB-9A60-4D1B-B8E2-620D95BCE832}"/>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Обновление движка и проекта</a:t>
            </a:r>
          </a:p>
        </p:txBody>
      </p:sp>
      <p:sp>
        <p:nvSpPr>
          <p:cNvPr id="2" name="">
            <a:extLst xmlns:a="http://schemas.openxmlformats.org/drawingml/2006/main">
              <a:ext uri="{FF2B5EF4-FFF2-40B4-BE49-F238E27FC236}">
                <a16:creationId xmlns:a16="http://schemas.microsoft.com/office/drawing/2014/main" id="{30747E76-FEEA-4686-9E79-6B5A92DAFFB0}"/>
              </a:ext>
            </a:extLst>
          </p:cNvPr>
          <p:cNvSpPr>
            <a:spLocks xmlns:a="http://schemas.openxmlformats.org/drawingml/2006/main" noGrp="1"/>
          </p:cNvSpPr>
          <p:nvPr/>
        </p:nvSpPr>
        <p:spPr>
          <a:xfrm xmlns:a="http://schemas.openxmlformats.org/drawingml/2006/main">
            <a:off x="609600" y="1666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Закреплённая версия</a:t>
            </a:r>
          </a:p>
        </p:txBody>
      </p:sp>
      <p:sp>
        <p:nvSpPr>
          <p:cNvPr id="3" name="">
            <a:extLst xmlns:a="http://schemas.openxmlformats.org/drawingml/2006/main">
              <a:ext uri="{FF2B5EF4-FFF2-40B4-BE49-F238E27FC236}">
                <a16:creationId xmlns:a16="http://schemas.microsoft.com/office/drawing/2014/main" id="{C6FA1A2A-E6F0-4DE2-AE49-FA69BFE622CA}"/>
              </a:ext>
            </a:extLst>
          </p:cNvPr>
          <p:cNvSpPr>
            <a:spLocks xmlns:a="http://schemas.openxmlformats.org/drawingml/2006/main" noGrp="1"/>
          </p:cNvSpPr>
          <p:nvPr/>
        </p:nvSpPr>
        <p:spPr>
          <a:xfrm xmlns:a="http://schemas.openxmlformats.org/drawingml/2006/main">
            <a:off x="4191000" y="1695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Проект использует выпуск из Engine.lock.json. SDK должен соответствовать версии и конфигурации.</a:t>
            </a:r>
          </a:p>
        </p:txBody>
      </p:sp>
      <p:sp>
        <p:nvSpPr>
          <p:cNvPr id="4" name="">
            <a:extLst xmlns:a="http://schemas.openxmlformats.org/drawingml/2006/main">
              <a:ext uri="{FF2B5EF4-FFF2-40B4-BE49-F238E27FC236}">
                <a16:creationId xmlns:a16="http://schemas.microsoft.com/office/drawing/2014/main" id="{9EF978F7-8287-48E5-89B7-979153CBED76}"/>
              </a:ext>
            </a:extLst>
          </p:cNvPr>
          <p:cNvSpPr>
            <a:spLocks xmlns:a="http://schemas.openxmlformats.org/drawingml/2006/main" noGrp="1"/>
          </p:cNvSpPr>
          <p:nvPr/>
        </p:nvSpPr>
        <p:spPr>
          <a:xfrm xmlns:a="http://schemas.openxmlformats.org/drawingml/2006/main">
            <a:off x="609600" y="30003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Новый выпуск</a:t>
            </a:r>
          </a:p>
        </p:txBody>
      </p:sp>
      <p:sp>
        <p:nvSpPr>
          <p:cNvPr id="5" name="">
            <a:extLst xmlns:a="http://schemas.openxmlformats.org/drawingml/2006/main">
              <a:ext uri="{FF2B5EF4-FFF2-40B4-BE49-F238E27FC236}">
                <a16:creationId xmlns:a16="http://schemas.microsoft.com/office/drawing/2014/main" id="{5427315C-7765-4F46-B89C-8FB5031DEAAA}"/>
              </a:ext>
            </a:extLst>
          </p:cNvPr>
          <p:cNvSpPr>
            <a:spLocks xmlns:a="http://schemas.openxmlformats.org/drawingml/2006/main" noGrp="1"/>
          </p:cNvSpPr>
          <p:nvPr/>
        </p:nvSpPr>
        <p:spPr>
          <a:xfrm xmlns:a="http://schemas.openxmlformats.org/drawingml/2006/main">
            <a:off x="4191000" y="30289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В лаунчере добавьте версию и используйте «Обновить копию…». Проверьте полученную копию проекта.</a:t>
            </a:r>
          </a:p>
        </p:txBody>
      </p:sp>
      <p:sp>
        <p:nvSpPr>
          <p:cNvPr id="6" name="">
            <a:extLst xmlns:a="http://schemas.openxmlformats.org/drawingml/2006/main">
              <a:ext uri="{FF2B5EF4-FFF2-40B4-BE49-F238E27FC236}">
                <a16:creationId xmlns:a16="http://schemas.microsoft.com/office/drawing/2014/main" id="{11BE5843-4AF6-40D0-A4D2-CAFF861A007E}"/>
              </a:ext>
            </a:extLst>
          </p:cNvPr>
          <p:cNvSpPr>
            <a:spLocks xmlns:a="http://schemas.openxmlformats.org/drawingml/2006/main" noGrp="1"/>
          </p:cNvSpPr>
          <p:nvPr/>
        </p:nvSpPr>
        <p:spPr>
          <a:xfrm xmlns:a="http://schemas.openxmlformats.org/drawingml/2006/main">
            <a:off x="609600" y="4333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Проект с C++</a:t>
            </a:r>
          </a:p>
        </p:txBody>
      </p:sp>
      <p:sp>
        <p:nvSpPr>
          <p:cNvPr id="7" name="">
            <a:extLst xmlns:a="http://schemas.openxmlformats.org/drawingml/2006/main">
              <a:ext uri="{FF2B5EF4-FFF2-40B4-BE49-F238E27FC236}">
                <a16:creationId xmlns:a16="http://schemas.microsoft.com/office/drawing/2014/main" id="{0F81210A-26FD-4B03-8522-C7F5D0E686BC}"/>
              </a:ext>
            </a:extLst>
          </p:cNvPr>
          <p:cNvSpPr>
            <a:spLocks xmlns:a="http://schemas.openxmlformats.org/drawingml/2006/main" noGrp="1"/>
          </p:cNvSpPr>
          <p:nvPr/>
        </p:nvSpPr>
        <p:spPr>
          <a:xfrm xmlns:a="http://schemas.openxmlformats.org/drawingml/2006/main">
            <a:off x="4191000" y="4362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После обновления пересоберите DLL новым SDK и проверьте сцену и Play.</a:t>
            </a:r>
          </a:p>
        </p:txBody>
      </p:sp>
      <p:sp>
        <p:nvSpPr>
          <p:cNvPr id="8" name="">
            <a:extLst xmlns:a="http://schemas.openxmlformats.org/drawingml/2006/main">
              <a:ext uri="{FF2B5EF4-FFF2-40B4-BE49-F238E27FC236}">
                <a16:creationId xmlns:a16="http://schemas.microsoft.com/office/drawing/2014/main" id="{F34B5201-711F-416B-AE90-DE57260CCAAB}"/>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Изменение номера в Engine.lock.json вручную не заменяет обновление проекта.</a:t>
            </a:r>
          </a:p>
        </p:txBody>
      </p:sp>
      <p:sp>
        <p:nvSpPr>
          <p:cNvPr id="9" name="">
            <a:extLst xmlns:a="http://schemas.openxmlformats.org/drawingml/2006/main">
              <a:ext uri="{FF2B5EF4-FFF2-40B4-BE49-F238E27FC236}">
                <a16:creationId xmlns:a16="http://schemas.microsoft.com/office/drawing/2014/main" id="{D2A2F3BA-32BE-4811-BEB6-C20D4CA4BB99}"/>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21</a:t>
            </a:r>
          </a:p>
        </p:txBody>
      </p:sp>
    </p:spTree>
    <p:extLst>
      <p:ext uri="{BB962C8B-B14F-4D97-AF65-F5344CB8AC3E}">
        <p14:creationId xmlns:p14="http://schemas.microsoft.com/office/powerpoint/2010/main" val="274695312"/>
      </p:ext>
    </p:extLst>
  </p:cSld>
</p:sld>
</file>

<file path=ppt/slides/slide22.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FA6D71A9-34CE-4AD5-8817-8205971AB12A}"/>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Частые вопросы при первом запуске</a:t>
            </a:r>
          </a:p>
        </p:txBody>
      </p:sp>
      <p:graphicFrame>
        <p:nvGraphicFramePr>
          <p:cNvPr id="2" name="">
            <a:extLst xmlns:a="http://schemas.openxmlformats.org/drawingml/2006/main">
              <a:ext uri="{FF2B5EF4-FFF2-40B4-BE49-F238E27FC236}">
                <a16:creationId xmlns:a16="http://schemas.microsoft.com/office/drawing/2014/main" id="{EB7ADEFE-AD21-4030-A4FE-55FFBDDD9B8E}"/>
              </a:ext>
            </a:extLst>
          </p:cNvPr>
          <p:cNvGraphicFramePr/>
          <p:nvPr/>
        </p:nvGraphicFramePr>
        <p:xfrm>
          <a:off xmlns:a="http://schemas.openxmlformats.org/drawingml/2006/main" x="609600" y="1562100"/>
          <a:ext xmlns:a="http://schemas.openxmlformats.org/drawingml/2006/main" cx="10972800" cy="4133850"/>
        </p:xfrm>
        <a:graphic xmlns:a="http://schemas.openxmlformats.org/drawingml/2006/main">
          <a:graphicData uri="http://schemas.openxmlformats.org/drawingml/2006/table">
            <a:tbl>
              <a:tblPr/>
              <a:tblGrid>
                <a:gridCol w="4095750"/>
                <a:gridCol w="6877050"/>
              </a:tblGrid>
              <a:tr h="590550">
                <a:tc>
                  <a:txBody>
                    <a:bodyPr/>
                    <a:lstStyle/>
                    <a:p>
                      <a:r>
                        <a:rPr sz="1800" b="1">
                          <a:solidFill>
                            <a:srgbClr val="FFFFFF"/>
                          </a:solidFill>
                          <a:latin typeface="Arial"/>
                          <a:ea typeface="Arial"/>
                          <a:cs typeface="Arial"/>
                        </a:rPr>
                        <a:t>Симптом</a:t>
                      </a:r>
                    </a:p>
                  </a:txBody>
                  <a:tcPr marL="133350" marR="133350" marT="114300" marB="95250">
                    <a:lnL w="9525">
                      <a:solidFill>
                        <a:srgbClr val="D9E1E5"/>
                      </a:solidFill>
                      <a:prstDash val="solid"/>
                    </a:lnL>
                    <a:lnR w="9525">
                      <a:solidFill>
                        <a:srgbClr val="D9E1E5"/>
                      </a:solidFill>
                      <a:prstDash val="solid"/>
                    </a:lnR>
                    <a:lnT w="9525">
                      <a:solidFill>
                        <a:srgbClr val="D9E1E5"/>
                      </a:solidFill>
                      <a:prstDash val="solid"/>
                    </a:lnT>
                    <a:lnB w="9525">
                      <a:solidFill>
                        <a:srgbClr val="D9E1E5"/>
                      </a:solidFill>
                      <a:prstDash val="solid"/>
                    </a:lnB>
                    <a:solidFill>
                      <a:srgbClr val="13384A"/>
                    </a:solidFill>
                  </a:tcPr>
                </a:tc>
                <a:tc>
                  <a:txBody>
                    <a:bodyPr/>
                    <a:lstStyle/>
                    <a:p>
                      <a:r>
                        <a:rPr sz="1800" b="1">
                          <a:solidFill>
                            <a:srgbClr val="FFFFFF"/>
                          </a:solidFill>
                          <a:latin typeface="Arial"/>
                          <a:ea typeface="Arial"/>
                          <a:cs typeface="Arial"/>
                        </a:rPr>
                        <a:t>Что проверить</a:t>
                      </a:r>
                    </a:p>
                  </a:txBody>
                  <a:tcPr marL="133350" marR="133350" marT="114300" marB="95250">
                    <a:lnR w="9525">
                      <a:solidFill>
                        <a:srgbClr val="D9E1E5"/>
                      </a:solidFill>
                      <a:prstDash val="solid"/>
                    </a:lnR>
                    <a:lnT w="9525">
                      <a:solidFill>
                        <a:srgbClr val="D9E1E5"/>
                      </a:solidFill>
                      <a:prstDash val="solid"/>
                    </a:lnT>
                    <a:lnB w="9525">
                      <a:solidFill>
                        <a:srgbClr val="D9E1E5"/>
                      </a:solidFill>
                      <a:prstDash val="solid"/>
                    </a:lnB>
                    <a:solidFill>
                      <a:srgbClr val="13384A"/>
                    </a:solidFill>
                  </a:tcPr>
                </a:tc>
              </a:tr>
              <a:tr h="590550">
                <a:tc>
                  <a:txBody>
                    <a:bodyPr/>
                    <a:lstStyle/>
                    <a:p>
                      <a:r>
                        <a:rPr sz="1800">
                          <a:solidFill>
                            <a:srgbClr val="243646"/>
                          </a:solidFill>
                          <a:latin typeface="Arial"/>
                          <a:ea typeface="Arial"/>
                          <a:cs typeface="Arial"/>
                        </a:rPr>
                        <a:t>Персонаж не двигается</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Play, фокус viewport, назначение и флажок управления</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После Stop позиция прежняя</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Это ожидаемо: Play изменяет временную копию</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Не создаётся C++ класс</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Имя начинается с буквы или _, без пробелов и .h</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Новый класс не виден</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Успешная сборка, регистрация и повторное открытие редактора</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Ошибка сборки / загрузки</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Console, CodeBuild.log и логи кандидата в Binaries</a:t>
                      </a:r>
                    </a:p>
                  </a:txBody>
                  <a:tcPr marL="133350" marR="133350" marT="114300" marB="95250">
                    <a:lnR w="9525">
                      <a:solidFill>
                        <a:srgbClr val="D9E1E5"/>
                      </a:solidFill>
                      <a:prstDash val="solid"/>
                    </a:lnR>
                    <a:lnB w="9525">
                      <a:solidFill>
                        <a:srgbClr val="D9E1E5"/>
                      </a:solidFill>
                      <a:prstDash val="solid"/>
                    </a:lnB>
                    <a:solidFill>
                      <a:srgbClr val="F5F7F8"/>
                    </a:solidFill>
                  </a:tcPr>
                </a:tc>
              </a:tr>
              <a:tr h="590550">
                <a:tc>
                  <a:txBody>
                    <a:bodyPr/>
                    <a:lstStyle/>
                    <a:p>
                      <a:r>
                        <a:rPr sz="1800">
                          <a:solidFill>
                            <a:srgbClr val="243646"/>
                          </a:solidFill>
                          <a:latin typeface="Arial"/>
                          <a:ea typeface="Arial"/>
                          <a:cs typeface="Arial"/>
                        </a:rPr>
                        <a:t>Пропала модель или текстура</a:t>
                      </a:r>
                    </a:p>
                  </a:txBody>
                  <a:tcPr marL="133350" marR="133350" marT="114300" marB="95250">
                    <a:lnL w="9525">
                      <a:solidFill>
                        <a:srgbClr val="D9E1E5"/>
                      </a:solidFill>
                      <a:prstDash val="solid"/>
                    </a:lnL>
                    <a:lnR w="9525">
                      <a:solidFill>
                        <a:srgbClr val="D9E1E5"/>
                      </a:solidFill>
                      <a:prstDash val="solid"/>
                    </a:lnR>
                    <a:lnB w="9525">
                      <a:solidFill>
                        <a:srgbClr val="D9E1E5"/>
                      </a:solidFill>
                      <a:prstDash val="solid"/>
                    </a:lnB>
                    <a:solidFill>
                      <a:srgbClr val="F5F7F8"/>
                    </a:solidFill>
                  </a:tcPr>
                </a:tc>
                <a:tc>
                  <a:txBody>
                    <a:bodyPr/>
                    <a:lstStyle/>
                    <a:p>
                      <a:r>
                        <a:rPr sz="1800">
                          <a:solidFill>
                            <a:srgbClr val="243646"/>
                          </a:solidFill>
                          <a:latin typeface="Arial"/>
                          <a:ea typeface="Arial"/>
                          <a:cs typeface="Arial"/>
                        </a:rPr>
                        <a:t>Ресурс импортирован в Content и перенесён вместе с проектом</a:t>
                      </a:r>
                    </a:p>
                  </a:txBody>
                  <a:tcPr marL="133350" marR="133350" marT="114300" marB="95250">
                    <a:lnR w="9525">
                      <a:solidFill>
                        <a:srgbClr val="D9E1E5"/>
                      </a:solidFill>
                      <a:prstDash val="solid"/>
                    </a:lnR>
                    <a:lnB w="9525">
                      <a:solidFill>
                        <a:srgbClr val="D9E1E5"/>
                      </a:solidFill>
                      <a:prstDash val="solid"/>
                    </a:lnB>
                    <a:solidFill>
                      <a:srgbClr val="F5F7F8"/>
                    </a:solidFill>
                  </a:tcPr>
                </a:tc>
              </a:tr>
            </a:tbl>
          </a:graphicData>
        </a:graphic>
      </p:graphicFrame>
      <p:sp>
        <p:nvSpPr>
          <p:cNvPr id="3" name="">
            <a:extLst xmlns:a="http://schemas.openxmlformats.org/drawingml/2006/main">
              <a:ext uri="{FF2B5EF4-FFF2-40B4-BE49-F238E27FC236}">
                <a16:creationId xmlns:a16="http://schemas.microsoft.com/office/drawing/2014/main" id="{C5AB8D8F-7F0F-42AC-ACA4-3A07F4134DC3}"/>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22</a:t>
            </a:r>
          </a:p>
        </p:txBody>
      </p:sp>
    </p:spTree>
    <p:extLst>
      <p:ext uri="{BB962C8B-B14F-4D97-AF65-F5344CB8AC3E}">
        <p14:creationId xmlns:p14="http://schemas.microsoft.com/office/powerpoint/2010/main" val="1827609716"/>
      </p:ext>
    </p:extLst>
  </p:cSld>
</p:sld>
</file>

<file path=ppt/slides/slide23.xml><?xml version="1.0" encoding="utf-8"?>
<p:sld xmlns:p="http://schemas.openxmlformats.org/presentationml/2006/main">
  <p:cSld>
    <p:bg>
      <p:bgPr>
        <a:solidFill xmlns:a="http://schemas.openxmlformats.org/drawingml/2006/main">
          <a:srgbClr val="F5F7F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64BAF32-87D9-4431-844D-C9875525C9E3}"/>
              </a:ext>
            </a:extLst>
          </p:cNvPr>
          <p:cNvSpPr>
            <a:spLocks xmlns:a="http://schemas.openxmlformats.org/drawingml/2006/main" noGrp="1"/>
          </p:cNvSpPr>
          <p:nvPr/>
        </p:nvSpPr>
        <p:spPr>
          <a:xfrm xmlns:a="http://schemas.openxmlformats.org/drawingml/2006/main">
            <a:off x="609600" y="45720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02737"/>
                </a:solidFill>
                <a:latin typeface="Arial"/>
                <a:ea typeface="Arial"/>
                <a:cs typeface="Arial"/>
              </a:defRPr>
            </a:defPPr>
            <a:lvl1pPr>
              <a:defRPr sz="3300" b="1">
                <a:solidFill>
                  <a:srgbClr val="102737"/>
                </a:solidFill>
                <a:latin typeface="Arial"/>
                <a:ea typeface="Arial"/>
                <a:cs typeface="Arial"/>
              </a:defRPr>
            </a:lvl1pPr>
            <a:lvl2pPr>
              <a:defRPr sz="3300" b="1">
                <a:solidFill>
                  <a:srgbClr val="102737"/>
                </a:solidFill>
                <a:latin typeface="Arial"/>
                <a:ea typeface="Arial"/>
                <a:cs typeface="Arial"/>
              </a:defRPr>
            </a:lvl2pPr>
            <a:lvl3pPr>
              <a:defRPr sz="3300" b="1">
                <a:solidFill>
                  <a:srgbClr val="102737"/>
                </a:solidFill>
                <a:latin typeface="Arial"/>
                <a:ea typeface="Arial"/>
                <a:cs typeface="Arial"/>
              </a:defRPr>
            </a:lvl3pPr>
            <a:lvl4pPr>
              <a:defRPr sz="3300" b="1">
                <a:solidFill>
                  <a:srgbClr val="102737"/>
                </a:solidFill>
                <a:latin typeface="Arial"/>
                <a:ea typeface="Arial"/>
                <a:cs typeface="Arial"/>
              </a:defRPr>
            </a:lvl4pPr>
            <a:lvl5pPr>
              <a:defRPr sz="3300" b="1">
                <a:solidFill>
                  <a:srgbClr val="102737"/>
                </a:solidFill>
                <a:latin typeface="Arial"/>
                <a:ea typeface="Arial"/>
                <a:cs typeface="Arial"/>
              </a:defRPr>
            </a:lvl5pPr>
            <a:lvl6pPr>
              <a:defRPr sz="3300" b="1">
                <a:solidFill>
                  <a:srgbClr val="102737"/>
                </a:solidFill>
                <a:latin typeface="Arial"/>
                <a:ea typeface="Arial"/>
                <a:cs typeface="Arial"/>
              </a:defRPr>
            </a:lvl6pPr>
            <a:lvl7pPr>
              <a:defRPr sz="3300" b="1">
                <a:solidFill>
                  <a:srgbClr val="102737"/>
                </a:solidFill>
                <a:latin typeface="Arial"/>
                <a:ea typeface="Arial"/>
                <a:cs typeface="Arial"/>
              </a:defRPr>
            </a:lvl7pPr>
            <a:lvl8pPr>
              <a:defRPr sz="3300" b="1">
                <a:solidFill>
                  <a:srgbClr val="102737"/>
                </a:solidFill>
                <a:latin typeface="Arial"/>
                <a:ea typeface="Arial"/>
                <a:cs typeface="Arial"/>
              </a:defRPr>
            </a:lvl8pPr>
            <a:lvl9pPr>
              <a:defRPr sz="3300" b="1">
                <a:solidFill>
                  <a:srgbClr val="102737"/>
                </a:solidFill>
                <a:latin typeface="Arial"/>
                <a:ea typeface="Arial"/>
                <a:cs typeface="Arial"/>
              </a:defRPr>
            </a:lvl9pPr>
          </a:lstStyle>
          <a:p xmlns:a="http://schemas.openxmlformats.org/drawingml/2006/main">
            <a:pPr>
              <a:defRPr sz="3300" b="1">
                <a:solidFill>
                  <a:srgbClr val="102737"/>
                </a:solidFill>
                <a:latin typeface="Arial"/>
                <a:ea typeface="Arial"/>
                <a:cs typeface="Arial"/>
              </a:defRPr>
            </a:pPr>
            <a:r>
              <a:rPr sz="3300" b="1">
                <a:solidFill>
                  <a:srgbClr val="102737"/>
                </a:solidFill>
                <a:latin typeface="Arial"/>
                <a:ea typeface="Arial"/>
                <a:cs typeface="Arial"/>
              </a:rPr>
              <a:t>Продолжение работы</a:t>
            </a:r>
          </a:p>
        </p:txBody>
      </p:sp>
      <p:sp>
        <p:nvSpPr>
          <p:cNvPr id="2" name="">
            <a:extLst xmlns:a="http://schemas.openxmlformats.org/drawingml/2006/main">
              <a:ext uri="{FF2B5EF4-FFF2-40B4-BE49-F238E27FC236}">
                <a16:creationId xmlns:a16="http://schemas.microsoft.com/office/drawing/2014/main" id="{ACB44E1D-D1A6-4DEA-8E38-45752DD0E601}"/>
              </a:ext>
            </a:extLst>
          </p:cNvPr>
          <p:cNvSpPr>
            <a:spLocks xmlns:a="http://schemas.openxmlformats.org/drawingml/2006/main" noGrp="1"/>
          </p:cNvSpPr>
          <p:nvPr/>
        </p:nvSpPr>
        <p:spPr>
          <a:xfrm xmlns:a="http://schemas.openxmlformats.org/drawingml/2006/main">
            <a:off x="609600" y="1666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Следующее упражнение</a:t>
            </a:r>
          </a:p>
        </p:txBody>
      </p:sp>
      <p:sp>
        <p:nvSpPr>
          <p:cNvPr id="3" name="">
            <a:extLst xmlns:a="http://schemas.openxmlformats.org/drawingml/2006/main">
              <a:ext uri="{FF2B5EF4-FFF2-40B4-BE49-F238E27FC236}">
                <a16:creationId xmlns:a16="http://schemas.microsoft.com/office/drawing/2014/main" id="{ADC2150F-A0D5-45A8-BD5F-BE7DA35EFF63}"/>
              </a:ext>
            </a:extLst>
          </p:cNvPr>
          <p:cNvSpPr>
            <a:spLocks xmlns:a="http://schemas.openxmlformats.org/drawingml/2006/main" noGrp="1"/>
          </p:cNvSpPr>
          <p:nvPr/>
        </p:nvSpPr>
        <p:spPr>
          <a:xfrm xmlns:a="http://schemas.openxmlformats.org/drawingml/2006/main">
            <a:off x="4191000" y="1695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Добавьте свою модель, настройте свет и сохраните сцену. Затем сравните слежение и фиксированную камеру.</a:t>
            </a:r>
          </a:p>
        </p:txBody>
      </p:sp>
      <p:sp>
        <p:nvSpPr>
          <p:cNvPr id="4" name="">
            <a:extLst xmlns:a="http://schemas.openxmlformats.org/drawingml/2006/main">
              <a:ext uri="{FF2B5EF4-FFF2-40B4-BE49-F238E27FC236}">
                <a16:creationId xmlns:a16="http://schemas.microsoft.com/office/drawing/2014/main" id="{3EA74DBF-C78F-4488-A8EB-6CE9DD9D3A57}"/>
              </a:ext>
            </a:extLst>
          </p:cNvPr>
          <p:cNvSpPr>
            <a:spLocks xmlns:a="http://schemas.openxmlformats.org/drawingml/2006/main" noGrp="1"/>
          </p:cNvSpPr>
          <p:nvPr/>
        </p:nvSpPr>
        <p:spPr>
          <a:xfrm xmlns:a="http://schemas.openxmlformats.org/drawingml/2006/main">
            <a:off x="609600" y="30003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Для разработчика</a:t>
            </a:r>
          </a:p>
        </p:txBody>
      </p:sp>
      <p:sp>
        <p:nvSpPr>
          <p:cNvPr id="5" name="">
            <a:extLst xmlns:a="http://schemas.openxmlformats.org/drawingml/2006/main">
              <a:ext uri="{FF2B5EF4-FFF2-40B4-BE49-F238E27FC236}">
                <a16:creationId xmlns:a16="http://schemas.microsoft.com/office/drawing/2014/main" id="{BD2A3FC0-DC33-4E58-AF30-712DCF982EE0}"/>
              </a:ext>
            </a:extLst>
          </p:cNvPr>
          <p:cNvSpPr>
            <a:spLocks xmlns:a="http://schemas.openxmlformats.org/drawingml/2006/main" noGrp="1"/>
          </p:cNvSpPr>
          <p:nvPr/>
        </p:nvSpPr>
        <p:spPr>
          <a:xfrm xmlns:a="http://schemas.openxmlformats.org/drawingml/2006/main">
            <a:off x="4191000" y="30289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Создайте наследника Character и замените одно действие. Проверьте фокус, Pause и повторный Play.</a:t>
            </a:r>
          </a:p>
        </p:txBody>
      </p:sp>
      <p:sp>
        <p:nvSpPr>
          <p:cNvPr id="6" name="">
            <a:extLst xmlns:a="http://schemas.openxmlformats.org/drawingml/2006/main">
              <a:ext uri="{FF2B5EF4-FFF2-40B4-BE49-F238E27FC236}">
                <a16:creationId xmlns:a16="http://schemas.microsoft.com/office/drawing/2014/main" id="{B8A8A294-BCE5-437F-8FE4-38504D1F1A43}"/>
              </a:ext>
            </a:extLst>
          </p:cNvPr>
          <p:cNvSpPr>
            <a:spLocks xmlns:a="http://schemas.openxmlformats.org/drawingml/2006/main" noGrp="1"/>
          </p:cNvSpPr>
          <p:nvPr/>
        </p:nvSpPr>
        <p:spPr>
          <a:xfrm xmlns:a="http://schemas.openxmlformats.org/drawingml/2006/main">
            <a:off x="609600" y="4333875"/>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78E"/>
                </a:solidFill>
                <a:latin typeface="Arial"/>
                <a:ea typeface="Arial"/>
                <a:cs typeface="Arial"/>
              </a:defRPr>
            </a:defPPr>
            <a:lvl1pPr>
              <a:defRPr sz="2250" b="1">
                <a:solidFill>
                  <a:srgbClr val="08778E"/>
                </a:solidFill>
                <a:latin typeface="Arial"/>
                <a:ea typeface="Arial"/>
                <a:cs typeface="Arial"/>
              </a:defRPr>
            </a:lvl1pPr>
            <a:lvl2pPr>
              <a:defRPr sz="2250" b="1">
                <a:solidFill>
                  <a:srgbClr val="08778E"/>
                </a:solidFill>
                <a:latin typeface="Arial"/>
                <a:ea typeface="Arial"/>
                <a:cs typeface="Arial"/>
              </a:defRPr>
            </a:lvl2pPr>
            <a:lvl3pPr>
              <a:defRPr sz="2250" b="1">
                <a:solidFill>
                  <a:srgbClr val="08778E"/>
                </a:solidFill>
                <a:latin typeface="Arial"/>
                <a:ea typeface="Arial"/>
                <a:cs typeface="Arial"/>
              </a:defRPr>
            </a:lvl3pPr>
            <a:lvl4pPr>
              <a:defRPr sz="2250" b="1">
                <a:solidFill>
                  <a:srgbClr val="08778E"/>
                </a:solidFill>
                <a:latin typeface="Arial"/>
                <a:ea typeface="Arial"/>
                <a:cs typeface="Arial"/>
              </a:defRPr>
            </a:lvl4pPr>
            <a:lvl5pPr>
              <a:defRPr sz="2250" b="1">
                <a:solidFill>
                  <a:srgbClr val="08778E"/>
                </a:solidFill>
                <a:latin typeface="Arial"/>
                <a:ea typeface="Arial"/>
                <a:cs typeface="Arial"/>
              </a:defRPr>
            </a:lvl5pPr>
            <a:lvl6pPr>
              <a:defRPr sz="2250" b="1">
                <a:solidFill>
                  <a:srgbClr val="08778E"/>
                </a:solidFill>
                <a:latin typeface="Arial"/>
                <a:ea typeface="Arial"/>
                <a:cs typeface="Arial"/>
              </a:defRPr>
            </a:lvl6pPr>
            <a:lvl7pPr>
              <a:defRPr sz="2250" b="1">
                <a:solidFill>
                  <a:srgbClr val="08778E"/>
                </a:solidFill>
                <a:latin typeface="Arial"/>
                <a:ea typeface="Arial"/>
                <a:cs typeface="Arial"/>
              </a:defRPr>
            </a:lvl7pPr>
            <a:lvl8pPr>
              <a:defRPr sz="2250" b="1">
                <a:solidFill>
                  <a:srgbClr val="08778E"/>
                </a:solidFill>
                <a:latin typeface="Arial"/>
                <a:ea typeface="Arial"/>
                <a:cs typeface="Arial"/>
              </a:defRPr>
            </a:lvl8pPr>
            <a:lvl9pPr>
              <a:defRPr sz="2250" b="1">
                <a:solidFill>
                  <a:srgbClr val="08778E"/>
                </a:solidFill>
                <a:latin typeface="Arial"/>
                <a:ea typeface="Arial"/>
                <a:cs typeface="Arial"/>
              </a:defRPr>
            </a:lvl9pPr>
          </a:lstStyle>
          <a:p xmlns:a="http://schemas.openxmlformats.org/drawingml/2006/main">
            <a:pPr>
              <a:defRPr sz="2250" b="1">
                <a:solidFill>
                  <a:srgbClr val="08778E"/>
                </a:solidFill>
                <a:latin typeface="Arial"/>
                <a:ea typeface="Arial"/>
                <a:cs typeface="Arial"/>
              </a:defRPr>
            </a:pPr>
            <a:r>
              <a:rPr sz="2250" b="1">
                <a:solidFill>
                  <a:srgbClr val="08778E"/>
                </a:solidFill>
                <a:latin typeface="Arial"/>
                <a:ea typeface="Arial"/>
                <a:cs typeface="Arial"/>
              </a:rPr>
              <a:t>Повторный вызов туториала</a:t>
            </a:r>
          </a:p>
        </p:txBody>
      </p:sp>
      <p:sp>
        <p:nvSpPr>
          <p:cNvPr id="7" name="">
            <a:extLst xmlns:a="http://schemas.openxmlformats.org/drawingml/2006/main">
              <a:ext uri="{FF2B5EF4-FFF2-40B4-BE49-F238E27FC236}">
                <a16:creationId xmlns:a16="http://schemas.microsoft.com/office/drawing/2014/main" id="{B08B6BB8-1C85-4235-856A-A5628FD2D2B5}"/>
              </a:ext>
            </a:extLst>
          </p:cNvPr>
          <p:cNvSpPr>
            <a:spLocks xmlns:a="http://schemas.openxmlformats.org/drawingml/2006/main" noGrp="1"/>
          </p:cNvSpPr>
          <p:nvPr/>
        </p:nvSpPr>
        <p:spPr>
          <a:xfrm xmlns:a="http://schemas.openxmlformats.org/drawingml/2006/main">
            <a:off x="4191000" y="4362450"/>
            <a:ext cx="73914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243646"/>
                </a:solidFill>
                <a:latin typeface="Arial"/>
                <a:ea typeface="Arial"/>
                <a:cs typeface="Arial"/>
              </a:defRPr>
            </a:defPPr>
            <a:lvl1pPr>
              <a:defRPr sz="2100" b="0">
                <a:solidFill>
                  <a:srgbClr val="243646"/>
                </a:solidFill>
                <a:latin typeface="Arial"/>
                <a:ea typeface="Arial"/>
                <a:cs typeface="Arial"/>
              </a:defRPr>
            </a:lvl1pPr>
            <a:lvl2pPr>
              <a:defRPr sz="2100" b="0">
                <a:solidFill>
                  <a:srgbClr val="243646"/>
                </a:solidFill>
                <a:latin typeface="Arial"/>
                <a:ea typeface="Arial"/>
                <a:cs typeface="Arial"/>
              </a:defRPr>
            </a:lvl2pPr>
            <a:lvl3pPr>
              <a:defRPr sz="2100" b="0">
                <a:solidFill>
                  <a:srgbClr val="243646"/>
                </a:solidFill>
                <a:latin typeface="Arial"/>
                <a:ea typeface="Arial"/>
                <a:cs typeface="Arial"/>
              </a:defRPr>
            </a:lvl3pPr>
            <a:lvl4pPr>
              <a:defRPr sz="2100" b="0">
                <a:solidFill>
                  <a:srgbClr val="243646"/>
                </a:solidFill>
                <a:latin typeface="Arial"/>
                <a:ea typeface="Arial"/>
                <a:cs typeface="Arial"/>
              </a:defRPr>
            </a:lvl4pPr>
            <a:lvl5pPr>
              <a:defRPr sz="2100" b="0">
                <a:solidFill>
                  <a:srgbClr val="243646"/>
                </a:solidFill>
                <a:latin typeface="Arial"/>
                <a:ea typeface="Arial"/>
                <a:cs typeface="Arial"/>
              </a:defRPr>
            </a:lvl5pPr>
            <a:lvl6pPr>
              <a:defRPr sz="2100" b="0">
                <a:solidFill>
                  <a:srgbClr val="243646"/>
                </a:solidFill>
                <a:latin typeface="Arial"/>
                <a:ea typeface="Arial"/>
                <a:cs typeface="Arial"/>
              </a:defRPr>
            </a:lvl6pPr>
            <a:lvl7pPr>
              <a:defRPr sz="2100" b="0">
                <a:solidFill>
                  <a:srgbClr val="243646"/>
                </a:solidFill>
                <a:latin typeface="Arial"/>
                <a:ea typeface="Arial"/>
                <a:cs typeface="Arial"/>
              </a:defRPr>
            </a:lvl7pPr>
            <a:lvl8pPr>
              <a:defRPr sz="2100" b="0">
                <a:solidFill>
                  <a:srgbClr val="243646"/>
                </a:solidFill>
                <a:latin typeface="Arial"/>
                <a:ea typeface="Arial"/>
                <a:cs typeface="Arial"/>
              </a:defRPr>
            </a:lvl8pPr>
            <a:lvl9pPr>
              <a:defRPr sz="2100" b="0">
                <a:solidFill>
                  <a:srgbClr val="243646"/>
                </a:solidFill>
                <a:latin typeface="Arial"/>
                <a:ea typeface="Arial"/>
                <a:cs typeface="Arial"/>
              </a:defRPr>
            </a:lvl9pPr>
          </a:lstStyle>
          <a:p xmlns:a="http://schemas.openxmlformats.org/drawingml/2006/main">
            <a:pPr>
              <a:defRPr sz="2100" b="0">
                <a:solidFill>
                  <a:srgbClr val="243646"/>
                </a:solidFill>
                <a:latin typeface="Arial"/>
                <a:ea typeface="Arial"/>
                <a:cs typeface="Arial"/>
              </a:defRPr>
            </a:pPr>
            <a:r>
              <a:rPr sz="2100" b="0">
                <a:solidFill>
                  <a:srgbClr val="243646"/>
                </a:solidFill>
                <a:latin typeface="Arial"/>
                <a:ea typeface="Arial"/>
                <a:cs typeface="Arial"/>
              </a:rPr>
              <a:t>Скажите: «дай презентацию-туториал». Для новой редакции: «обнови презентацию-туториал по текущему движку».</a:t>
            </a:r>
          </a:p>
        </p:txBody>
      </p:sp>
      <p:sp>
        <p:nvSpPr>
          <p:cNvPr id="8" name="">
            <a:extLst xmlns:a="http://schemas.openxmlformats.org/drawingml/2006/main">
              <a:ext uri="{FF2B5EF4-FFF2-40B4-BE49-F238E27FC236}">
                <a16:creationId xmlns:a16="http://schemas.microsoft.com/office/drawing/2014/main" id="{A5865ACA-412A-4859-BCC4-2E0DE6358BA3}"/>
              </a:ext>
            </a:extLst>
          </p:cNvPr>
          <p:cNvSpPr>
            <a:spLocks xmlns:a="http://schemas.openxmlformats.org/drawingml/2006/main" noGrp="1"/>
          </p:cNvSpPr>
          <p:nvPr/>
        </p:nvSpPr>
        <p:spPr>
          <a:xfrm xmlns:a="http://schemas.openxmlformats.org/drawingml/2006/main">
            <a:off x="609600" y="5953125"/>
            <a:ext cx="1076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4D6272"/>
                </a:solidFill>
                <a:latin typeface="Arial"/>
                <a:ea typeface="Arial"/>
                <a:cs typeface="Arial"/>
              </a:defRPr>
            </a:defPPr>
            <a:lvl1pPr>
              <a:defRPr sz="1575" b="0">
                <a:solidFill>
                  <a:srgbClr val="4D6272"/>
                </a:solidFill>
                <a:latin typeface="Arial"/>
                <a:ea typeface="Arial"/>
                <a:cs typeface="Arial"/>
              </a:defRPr>
            </a:lvl1pPr>
            <a:lvl2pPr>
              <a:defRPr sz="1575" b="0">
                <a:solidFill>
                  <a:srgbClr val="4D6272"/>
                </a:solidFill>
                <a:latin typeface="Arial"/>
                <a:ea typeface="Arial"/>
                <a:cs typeface="Arial"/>
              </a:defRPr>
            </a:lvl2pPr>
            <a:lvl3pPr>
              <a:defRPr sz="1575" b="0">
                <a:solidFill>
                  <a:srgbClr val="4D6272"/>
                </a:solidFill>
                <a:latin typeface="Arial"/>
                <a:ea typeface="Arial"/>
                <a:cs typeface="Arial"/>
              </a:defRPr>
            </a:lvl3pPr>
            <a:lvl4pPr>
              <a:defRPr sz="1575" b="0">
                <a:solidFill>
                  <a:srgbClr val="4D6272"/>
                </a:solidFill>
                <a:latin typeface="Arial"/>
                <a:ea typeface="Arial"/>
                <a:cs typeface="Arial"/>
              </a:defRPr>
            </a:lvl4pPr>
            <a:lvl5pPr>
              <a:defRPr sz="1575" b="0">
                <a:solidFill>
                  <a:srgbClr val="4D6272"/>
                </a:solidFill>
                <a:latin typeface="Arial"/>
                <a:ea typeface="Arial"/>
                <a:cs typeface="Arial"/>
              </a:defRPr>
            </a:lvl5pPr>
            <a:lvl6pPr>
              <a:defRPr sz="1575" b="0">
                <a:solidFill>
                  <a:srgbClr val="4D6272"/>
                </a:solidFill>
                <a:latin typeface="Arial"/>
                <a:ea typeface="Arial"/>
                <a:cs typeface="Arial"/>
              </a:defRPr>
            </a:lvl6pPr>
            <a:lvl7pPr>
              <a:defRPr sz="1575" b="0">
                <a:solidFill>
                  <a:srgbClr val="4D6272"/>
                </a:solidFill>
                <a:latin typeface="Arial"/>
                <a:ea typeface="Arial"/>
                <a:cs typeface="Arial"/>
              </a:defRPr>
            </a:lvl7pPr>
            <a:lvl8pPr>
              <a:defRPr sz="1575" b="0">
                <a:solidFill>
                  <a:srgbClr val="4D6272"/>
                </a:solidFill>
                <a:latin typeface="Arial"/>
                <a:ea typeface="Arial"/>
                <a:cs typeface="Arial"/>
              </a:defRPr>
            </a:lvl8pPr>
            <a:lvl9pPr>
              <a:defRPr sz="1575" b="0">
                <a:solidFill>
                  <a:srgbClr val="4D6272"/>
                </a:solidFill>
                <a:latin typeface="Arial"/>
                <a:ea typeface="Arial"/>
                <a:cs typeface="Arial"/>
              </a:defRPr>
            </a:lvl9pPr>
          </a:lstStyle>
          <a:p xmlns:a="http://schemas.openxmlformats.org/drawingml/2006/main">
            <a:pPr>
              <a:defRPr sz="1575" b="0">
                <a:solidFill>
                  <a:srgbClr val="4D6272"/>
                </a:solidFill>
                <a:latin typeface="Arial"/>
                <a:ea typeface="Arial"/>
                <a:cs typeface="Arial"/>
              </a:defRPr>
            </a:pPr>
            <a:r>
              <a:rPr sz="1575" b="0">
                <a:solidFill>
                  <a:srgbClr val="4D6272"/>
                </a:solidFill>
                <a:latin typeface="Arial"/>
                <a:ea typeface="Arial"/>
                <a:cs typeface="Arial"/>
              </a:rPr>
              <a:t>Материал относится к локальной сборке 2026.10.27.0, редакция 1 от 27.10.2026.</a:t>
            </a:r>
          </a:p>
        </p:txBody>
      </p:sp>
      <p:sp>
        <p:nvSpPr>
          <p:cNvPr id="9" name="">
            <a:extLst xmlns:a="http://schemas.openxmlformats.org/drawingml/2006/main">
              <a:ext uri="{FF2B5EF4-FFF2-40B4-BE49-F238E27FC236}">
                <a16:creationId xmlns:a16="http://schemas.microsoft.com/office/drawing/2014/main" id="{F81C6D3D-CA50-481B-AD99-21A24F30B3E2}"/>
              </a:ext>
            </a:extLst>
          </p:cNvPr>
          <p:cNvSpPr>
            <a:spLocks xmlns:a="http://schemas.openxmlformats.org/drawingml/2006/main" noGrp="1"/>
          </p:cNvSpPr>
          <p:nvPr/>
        </p:nvSpPr>
        <p:spPr>
          <a:xfrm xmlns:a="http://schemas.openxmlformats.org/drawingml/2006/main">
            <a:off x="11239500" y="651510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66808F"/>
                </a:solidFill>
                <a:latin typeface="Arial"/>
                <a:ea typeface="Arial"/>
                <a:cs typeface="Arial"/>
              </a:defRPr>
            </a:defPPr>
            <a:lvl1pPr>
              <a:defRPr sz="1200" b="0">
                <a:solidFill>
                  <a:srgbClr val="66808F"/>
                </a:solidFill>
                <a:latin typeface="Arial"/>
                <a:ea typeface="Arial"/>
                <a:cs typeface="Arial"/>
              </a:defRPr>
            </a:lvl1pPr>
            <a:lvl2pPr>
              <a:defRPr sz="1200" b="0">
                <a:solidFill>
                  <a:srgbClr val="66808F"/>
                </a:solidFill>
                <a:latin typeface="Arial"/>
                <a:ea typeface="Arial"/>
                <a:cs typeface="Arial"/>
              </a:defRPr>
            </a:lvl2pPr>
            <a:lvl3pPr>
              <a:defRPr sz="1200" b="0">
                <a:solidFill>
                  <a:srgbClr val="66808F"/>
                </a:solidFill>
                <a:latin typeface="Arial"/>
                <a:ea typeface="Arial"/>
                <a:cs typeface="Arial"/>
              </a:defRPr>
            </a:lvl3pPr>
            <a:lvl4pPr>
              <a:defRPr sz="1200" b="0">
                <a:solidFill>
                  <a:srgbClr val="66808F"/>
                </a:solidFill>
                <a:latin typeface="Arial"/>
                <a:ea typeface="Arial"/>
                <a:cs typeface="Arial"/>
              </a:defRPr>
            </a:lvl4pPr>
            <a:lvl5pPr>
              <a:defRPr sz="1200" b="0">
                <a:solidFill>
                  <a:srgbClr val="66808F"/>
                </a:solidFill>
                <a:latin typeface="Arial"/>
                <a:ea typeface="Arial"/>
                <a:cs typeface="Arial"/>
              </a:defRPr>
            </a:lvl5pPr>
            <a:lvl6pPr>
              <a:defRPr sz="1200" b="0">
                <a:solidFill>
                  <a:srgbClr val="66808F"/>
                </a:solidFill>
                <a:latin typeface="Arial"/>
                <a:ea typeface="Arial"/>
                <a:cs typeface="Arial"/>
              </a:defRPr>
            </a:lvl6pPr>
            <a:lvl7pPr>
              <a:defRPr sz="1200" b="0">
                <a:solidFill>
                  <a:srgbClr val="66808F"/>
                </a:solidFill>
                <a:latin typeface="Arial"/>
                <a:ea typeface="Arial"/>
                <a:cs typeface="Arial"/>
              </a:defRPr>
            </a:lvl7pPr>
            <a:lvl8pPr>
              <a:defRPr sz="1200" b="0">
                <a:solidFill>
                  <a:srgbClr val="66808F"/>
                </a:solidFill>
                <a:latin typeface="Arial"/>
                <a:ea typeface="Arial"/>
                <a:cs typeface="Arial"/>
              </a:defRPr>
            </a:lvl8pPr>
            <a:lvl9pPr>
              <a:defRPr sz="1200" b="0">
                <a:solidFill>
                  <a:srgbClr val="66808F"/>
                </a:solidFill>
                <a:latin typeface="Arial"/>
                <a:ea typeface="Arial"/>
                <a:cs typeface="Arial"/>
              </a:defRPr>
            </a:lvl9pPr>
          </a:lstStyle>
          <a:p xmlns:a="http://schemas.openxmlformats.org/drawingml/2006/main">
            <a:pPr>
              <a:defRPr sz="1200" b="0">
                <a:solidFill>
                  <a:srgbClr val="66808F"/>
                </a:solidFill>
                <a:latin typeface="Arial"/>
                <a:ea typeface="Arial"/>
                <a:cs typeface="Arial"/>
              </a:defRPr>
            </a:pPr>
            <a:r>
              <a:rPr sz="1200" b="0">
                <a:solidFill>
                  <a:srgbClr val="66808F"/>
                </a:solidFill>
                <a:latin typeface="Arial"/>
                <a:ea typeface="Arial"/>
                <a:cs typeface="Arial"/>
              </a:rPr>
              <a:t>23</a:t>
            </a:r>
          </a:p>
        </p:txBody>
      </p:sp>
    </p:spTree>
    <p:extLst>
      <p:ext uri="{BB962C8B-B14F-4D97-AF65-F5344CB8AC3E}">
        <p14:creationId xmlns:p14="http://schemas.microsoft.com/office/powerpoint/2010/main" val="559842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2026-10-27T20:43:31.0370000Z</dcterms:created>
  <dcterms:modified xsi:type="dcterms:W3CDTF">2026-10-27T20:43:31.0370000Z</dcterms:modified>
</coreProperties>
</file>